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3" d="100"/>
          <a:sy n="53"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5959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txBody>
          <a:bodyPr/>
          <a:lstStyle/>
          <a:p>
            <a:endParaRPr lang="en-IN"/>
          </a:p>
        </p:txBody>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308610" y="2593181"/>
            <a:ext cx="4869180" cy="3043237"/>
          </a:xfrm>
          <a:prstGeom prst="rect">
            <a:avLst/>
          </a:prstGeom>
        </p:spPr>
      </p:pic>
      <p:sp>
        <p:nvSpPr>
          <p:cNvPr id="6" name="Text 1"/>
          <p:cNvSpPr/>
          <p:nvPr/>
        </p:nvSpPr>
        <p:spPr>
          <a:xfrm>
            <a:off x="6350437" y="692229"/>
            <a:ext cx="7415927" cy="2129314"/>
          </a:xfrm>
          <a:prstGeom prst="rect">
            <a:avLst/>
          </a:prstGeom>
          <a:noFill/>
          <a:ln/>
        </p:spPr>
        <p:txBody>
          <a:bodyPr wrap="square" rtlCol="0" anchor="t"/>
          <a:lstStyle/>
          <a:p>
            <a:pPr marL="0" indent="0">
              <a:lnSpc>
                <a:spcPts val="8384"/>
              </a:lnSpc>
              <a:buNone/>
            </a:pPr>
            <a:r>
              <a:rPr lang="en-US" sz="6707" b="1" dirty="0">
                <a:solidFill>
                  <a:srgbClr val="5B5F72"/>
                </a:solidFill>
                <a:latin typeface="Instrument Sans" pitchFamily="34" charset="0"/>
                <a:ea typeface="Instrument Sans" pitchFamily="34" charset="-122"/>
                <a:cs typeface="Instrument Sans" pitchFamily="34" charset="-120"/>
              </a:rPr>
              <a:t>ERP System for Institution</a:t>
            </a:r>
            <a:endParaRPr lang="en-US" sz="6707" dirty="0"/>
          </a:p>
        </p:txBody>
      </p:sp>
      <p:sp>
        <p:nvSpPr>
          <p:cNvPr id="7" name="Text 2"/>
          <p:cNvSpPr/>
          <p:nvPr/>
        </p:nvSpPr>
        <p:spPr>
          <a:xfrm>
            <a:off x="6350437" y="3191828"/>
            <a:ext cx="7415927" cy="4345543"/>
          </a:xfrm>
          <a:prstGeom prst="rect">
            <a:avLst/>
          </a:prstGeom>
          <a:noFill/>
          <a:ln/>
        </p:spPr>
        <p:txBody>
          <a:bodyPr wrap="squar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This project is a comprehensive ERP system designed for institutions like universities, colleges, and schools. It covers all aspects of an institution's workflow and integrates all processes with a user-friendly interface. With hundreds of satisfied customers, this ERP system is the first choice of several state, government/semi-government universities and institutions. It is the outcome of hard work done by our expert technical team in supervision of several renowned educationists, including Controllers of Examination and faculties. This ERP system streamlines the path of information flow in the organization by taking care of the following departments:</a:t>
            </a:r>
            <a:endParaRPr lang="en-US" sz="194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txBody>
          <a:bodyPr/>
          <a:lstStyle/>
          <a:p>
            <a:endParaRPr lang="en-IN"/>
          </a:p>
        </p:txBody>
      </p:sp>
      <p:sp>
        <p:nvSpPr>
          <p:cNvPr id="4" name="Text 1"/>
          <p:cNvSpPr/>
          <p:nvPr/>
        </p:nvSpPr>
        <p:spPr>
          <a:xfrm>
            <a:off x="842248" y="662345"/>
            <a:ext cx="6314599" cy="751999"/>
          </a:xfrm>
          <a:prstGeom prst="rect">
            <a:avLst/>
          </a:prstGeom>
          <a:noFill/>
          <a:ln/>
        </p:spPr>
        <p:txBody>
          <a:bodyPr wrap="none" rtlCol="0" anchor="t"/>
          <a:lstStyle/>
          <a:p>
            <a:pPr marL="0" indent="0">
              <a:lnSpc>
                <a:spcPts val="5921"/>
              </a:lnSpc>
              <a:buNone/>
            </a:pPr>
            <a:r>
              <a:rPr lang="en-US" sz="4737" b="1" dirty="0">
                <a:solidFill>
                  <a:srgbClr val="5B5F72"/>
                </a:solidFill>
                <a:latin typeface="Instrument Sans" pitchFamily="34" charset="0"/>
                <a:ea typeface="Instrument Sans" pitchFamily="34" charset="-122"/>
                <a:cs typeface="Instrument Sans" pitchFamily="34" charset="-120"/>
              </a:rPr>
              <a:t>Departments Covered</a:t>
            </a:r>
            <a:endParaRPr lang="en-US" sz="4737" dirty="0"/>
          </a:p>
        </p:txBody>
      </p:sp>
      <p:sp>
        <p:nvSpPr>
          <p:cNvPr id="5" name="Shape 2"/>
          <p:cNvSpPr/>
          <p:nvPr/>
        </p:nvSpPr>
        <p:spPr>
          <a:xfrm>
            <a:off x="842248" y="2166223"/>
            <a:ext cx="541377" cy="541377"/>
          </a:xfrm>
          <a:prstGeom prst="roundRect">
            <a:avLst>
              <a:gd name="adj" fmla="val 18669"/>
            </a:avLst>
          </a:prstGeom>
          <a:solidFill>
            <a:srgbClr val="E3E4E8"/>
          </a:solidFill>
          <a:ln w="7620">
            <a:solidFill>
              <a:srgbClr val="C9CACE"/>
            </a:solidFill>
            <a:prstDash val="solid"/>
          </a:ln>
        </p:spPr>
        <p:txBody>
          <a:bodyPr/>
          <a:lstStyle/>
          <a:p>
            <a:endParaRPr lang="en-IN"/>
          </a:p>
        </p:txBody>
      </p:sp>
      <p:sp>
        <p:nvSpPr>
          <p:cNvPr id="6" name="Text 3"/>
          <p:cNvSpPr/>
          <p:nvPr/>
        </p:nvSpPr>
        <p:spPr>
          <a:xfrm>
            <a:off x="1043107" y="2256353"/>
            <a:ext cx="139660" cy="360998"/>
          </a:xfrm>
          <a:prstGeom prst="rect">
            <a:avLst/>
          </a:prstGeom>
          <a:noFill/>
          <a:ln/>
        </p:spPr>
        <p:txBody>
          <a:bodyPr wrap="none" rtlCol="0" anchor="t"/>
          <a:lstStyle/>
          <a:p>
            <a:pPr marL="0" indent="0" algn="ctr">
              <a:lnSpc>
                <a:spcPts val="2842"/>
              </a:lnSpc>
              <a:buNone/>
            </a:pPr>
            <a:r>
              <a:rPr lang="en-US" sz="2842" b="1" dirty="0">
                <a:solidFill>
                  <a:srgbClr val="5B5F71"/>
                </a:solidFill>
                <a:latin typeface="Instrument Sans" pitchFamily="34" charset="0"/>
                <a:ea typeface="Instrument Sans" pitchFamily="34" charset="-122"/>
                <a:cs typeface="Instrument Sans" pitchFamily="34" charset="-120"/>
              </a:rPr>
              <a:t>1</a:t>
            </a:r>
            <a:endParaRPr lang="en-US" sz="2842" dirty="0"/>
          </a:p>
        </p:txBody>
      </p:sp>
      <p:sp>
        <p:nvSpPr>
          <p:cNvPr id="7" name="Text 4"/>
          <p:cNvSpPr/>
          <p:nvPr/>
        </p:nvSpPr>
        <p:spPr>
          <a:xfrm>
            <a:off x="1624251" y="2166223"/>
            <a:ext cx="3007995" cy="375880"/>
          </a:xfrm>
          <a:prstGeom prst="rect">
            <a:avLst/>
          </a:prstGeom>
          <a:noFill/>
          <a:ln/>
        </p:spPr>
        <p:txBody>
          <a:bodyPr wrap="none" rtlCol="0" anchor="t"/>
          <a:lstStyle/>
          <a:p>
            <a:pPr marL="0" indent="0">
              <a:lnSpc>
                <a:spcPts val="2961"/>
              </a:lnSpc>
              <a:buNone/>
            </a:pPr>
            <a:r>
              <a:rPr lang="en-US" sz="2369" b="1" dirty="0">
                <a:solidFill>
                  <a:srgbClr val="5B5F71"/>
                </a:solidFill>
                <a:latin typeface="Instrument Sans" pitchFamily="34" charset="0"/>
                <a:ea typeface="Instrument Sans" pitchFamily="34" charset="-122"/>
                <a:cs typeface="Instrument Sans" pitchFamily="34" charset="-120"/>
              </a:rPr>
              <a:t>Fee Department</a:t>
            </a:r>
            <a:endParaRPr lang="en-US" sz="2369" dirty="0"/>
          </a:p>
        </p:txBody>
      </p:sp>
      <p:sp>
        <p:nvSpPr>
          <p:cNvPr id="8" name="Text 5"/>
          <p:cNvSpPr/>
          <p:nvPr/>
        </p:nvSpPr>
        <p:spPr>
          <a:xfrm>
            <a:off x="1624251" y="2686407"/>
            <a:ext cx="3372922" cy="1924645"/>
          </a:xfrm>
          <a:prstGeom prst="rect">
            <a:avLst/>
          </a:prstGeom>
          <a:noFill/>
          <a:ln/>
        </p:spPr>
        <p:txBody>
          <a:bodyPr wrap="square" rtlCol="0" anchor="t"/>
          <a:lstStyle/>
          <a:p>
            <a:pPr marL="0" indent="0">
              <a:lnSpc>
                <a:spcPts val="3032"/>
              </a:lnSpc>
              <a:buNone/>
            </a:pPr>
            <a:r>
              <a:rPr lang="en-US" sz="1895" dirty="0">
                <a:solidFill>
                  <a:srgbClr val="5B5F71"/>
                </a:solidFill>
                <a:latin typeface="Instrument Sans" pitchFamily="34" charset="0"/>
                <a:ea typeface="Instrument Sans" pitchFamily="34" charset="-122"/>
                <a:cs typeface="Instrument Sans" pitchFamily="34" charset="-120"/>
              </a:rPr>
              <a:t>The ERP system includes a dedicated Fee Department module to manage student fee payments, track dues, and generate reports.</a:t>
            </a:r>
            <a:endParaRPr lang="en-US" sz="1895" dirty="0"/>
          </a:p>
        </p:txBody>
      </p:sp>
      <p:sp>
        <p:nvSpPr>
          <p:cNvPr id="9" name="Shape 6"/>
          <p:cNvSpPr/>
          <p:nvPr/>
        </p:nvSpPr>
        <p:spPr>
          <a:xfrm>
            <a:off x="5237798" y="2166223"/>
            <a:ext cx="541377" cy="541377"/>
          </a:xfrm>
          <a:prstGeom prst="roundRect">
            <a:avLst>
              <a:gd name="adj" fmla="val 18669"/>
            </a:avLst>
          </a:prstGeom>
          <a:solidFill>
            <a:srgbClr val="E3E4E8"/>
          </a:solidFill>
          <a:ln w="7620">
            <a:solidFill>
              <a:srgbClr val="C9CACE"/>
            </a:solidFill>
            <a:prstDash val="solid"/>
          </a:ln>
        </p:spPr>
        <p:txBody>
          <a:bodyPr/>
          <a:lstStyle/>
          <a:p>
            <a:endParaRPr lang="en-IN"/>
          </a:p>
        </p:txBody>
      </p:sp>
      <p:sp>
        <p:nvSpPr>
          <p:cNvPr id="10" name="Text 7"/>
          <p:cNvSpPr/>
          <p:nvPr/>
        </p:nvSpPr>
        <p:spPr>
          <a:xfrm>
            <a:off x="5407938" y="2256353"/>
            <a:ext cx="201097" cy="360998"/>
          </a:xfrm>
          <a:prstGeom prst="rect">
            <a:avLst/>
          </a:prstGeom>
          <a:noFill/>
          <a:ln/>
        </p:spPr>
        <p:txBody>
          <a:bodyPr wrap="none" rtlCol="0" anchor="t"/>
          <a:lstStyle/>
          <a:p>
            <a:pPr marL="0" indent="0" algn="ctr">
              <a:lnSpc>
                <a:spcPts val="2842"/>
              </a:lnSpc>
              <a:buNone/>
            </a:pPr>
            <a:r>
              <a:rPr lang="en-US" sz="2842" b="1" dirty="0">
                <a:solidFill>
                  <a:srgbClr val="5B5F71"/>
                </a:solidFill>
                <a:latin typeface="Instrument Sans" pitchFamily="34" charset="0"/>
                <a:ea typeface="Instrument Sans" pitchFamily="34" charset="-122"/>
                <a:cs typeface="Instrument Sans" pitchFamily="34" charset="-120"/>
              </a:rPr>
              <a:t>2</a:t>
            </a:r>
            <a:endParaRPr lang="en-US" sz="2842" dirty="0"/>
          </a:p>
        </p:txBody>
      </p:sp>
      <p:sp>
        <p:nvSpPr>
          <p:cNvPr id="11" name="Text 8"/>
          <p:cNvSpPr/>
          <p:nvPr/>
        </p:nvSpPr>
        <p:spPr>
          <a:xfrm>
            <a:off x="6019800" y="2166223"/>
            <a:ext cx="3372922" cy="751761"/>
          </a:xfrm>
          <a:prstGeom prst="rect">
            <a:avLst/>
          </a:prstGeom>
          <a:noFill/>
          <a:ln/>
        </p:spPr>
        <p:txBody>
          <a:bodyPr wrap="square" rtlCol="0" anchor="t"/>
          <a:lstStyle/>
          <a:p>
            <a:pPr marL="0" indent="0">
              <a:lnSpc>
                <a:spcPts val="2961"/>
              </a:lnSpc>
              <a:buNone/>
            </a:pPr>
            <a:r>
              <a:rPr lang="en-US" sz="2369" b="1" dirty="0">
                <a:solidFill>
                  <a:srgbClr val="5B5F71"/>
                </a:solidFill>
                <a:latin typeface="Instrument Sans" pitchFamily="34" charset="0"/>
                <a:ea typeface="Instrument Sans" pitchFamily="34" charset="-122"/>
                <a:cs typeface="Instrument Sans" pitchFamily="34" charset="-120"/>
              </a:rPr>
              <a:t>Examination Department</a:t>
            </a:r>
            <a:endParaRPr lang="en-US" sz="2369" dirty="0"/>
          </a:p>
        </p:txBody>
      </p:sp>
      <p:sp>
        <p:nvSpPr>
          <p:cNvPr id="12" name="Text 9"/>
          <p:cNvSpPr/>
          <p:nvPr/>
        </p:nvSpPr>
        <p:spPr>
          <a:xfrm>
            <a:off x="6019800" y="3062288"/>
            <a:ext cx="3372922" cy="1924645"/>
          </a:xfrm>
          <a:prstGeom prst="rect">
            <a:avLst/>
          </a:prstGeom>
          <a:noFill/>
          <a:ln/>
        </p:spPr>
        <p:txBody>
          <a:bodyPr wrap="square" rtlCol="0" anchor="t"/>
          <a:lstStyle/>
          <a:p>
            <a:pPr marL="0" indent="0">
              <a:lnSpc>
                <a:spcPts val="3032"/>
              </a:lnSpc>
              <a:buNone/>
            </a:pPr>
            <a:r>
              <a:rPr lang="en-US" sz="1895" dirty="0">
                <a:solidFill>
                  <a:srgbClr val="5B5F71"/>
                </a:solidFill>
                <a:latin typeface="Instrument Sans" pitchFamily="34" charset="0"/>
                <a:ea typeface="Instrument Sans" pitchFamily="34" charset="-122"/>
                <a:cs typeface="Instrument Sans" pitchFamily="34" charset="-120"/>
              </a:rPr>
              <a:t>The Examination Department module handles exam scheduling, result processing, and student performance analysis.</a:t>
            </a:r>
            <a:endParaRPr lang="en-US" sz="1895" dirty="0"/>
          </a:p>
        </p:txBody>
      </p:sp>
      <p:sp>
        <p:nvSpPr>
          <p:cNvPr id="13" name="Shape 10"/>
          <p:cNvSpPr/>
          <p:nvPr/>
        </p:nvSpPr>
        <p:spPr>
          <a:xfrm>
            <a:off x="9633347" y="2166223"/>
            <a:ext cx="541377" cy="541377"/>
          </a:xfrm>
          <a:prstGeom prst="roundRect">
            <a:avLst>
              <a:gd name="adj" fmla="val 18669"/>
            </a:avLst>
          </a:prstGeom>
          <a:solidFill>
            <a:srgbClr val="E3E4E8"/>
          </a:solidFill>
          <a:ln w="7620">
            <a:solidFill>
              <a:srgbClr val="C9CACE"/>
            </a:solidFill>
            <a:prstDash val="solid"/>
          </a:ln>
        </p:spPr>
        <p:txBody>
          <a:bodyPr/>
          <a:lstStyle/>
          <a:p>
            <a:endParaRPr lang="en-IN"/>
          </a:p>
        </p:txBody>
      </p:sp>
      <p:sp>
        <p:nvSpPr>
          <p:cNvPr id="14" name="Text 11"/>
          <p:cNvSpPr/>
          <p:nvPr/>
        </p:nvSpPr>
        <p:spPr>
          <a:xfrm>
            <a:off x="9799558" y="2256353"/>
            <a:ext cx="208955" cy="360998"/>
          </a:xfrm>
          <a:prstGeom prst="rect">
            <a:avLst/>
          </a:prstGeom>
          <a:noFill/>
          <a:ln/>
        </p:spPr>
        <p:txBody>
          <a:bodyPr wrap="none" rtlCol="0" anchor="t"/>
          <a:lstStyle/>
          <a:p>
            <a:pPr marL="0" indent="0" algn="ctr">
              <a:lnSpc>
                <a:spcPts val="2842"/>
              </a:lnSpc>
              <a:buNone/>
            </a:pPr>
            <a:r>
              <a:rPr lang="en-US" sz="2842" b="1" dirty="0">
                <a:solidFill>
                  <a:srgbClr val="5B5F71"/>
                </a:solidFill>
                <a:latin typeface="Instrument Sans" pitchFamily="34" charset="0"/>
                <a:ea typeface="Instrument Sans" pitchFamily="34" charset="-122"/>
                <a:cs typeface="Instrument Sans" pitchFamily="34" charset="-120"/>
              </a:rPr>
              <a:t>3</a:t>
            </a:r>
            <a:endParaRPr lang="en-US" sz="2842" dirty="0"/>
          </a:p>
        </p:txBody>
      </p:sp>
      <p:sp>
        <p:nvSpPr>
          <p:cNvPr id="15" name="Text 12"/>
          <p:cNvSpPr/>
          <p:nvPr/>
        </p:nvSpPr>
        <p:spPr>
          <a:xfrm>
            <a:off x="10415349" y="2166223"/>
            <a:ext cx="3007995" cy="375880"/>
          </a:xfrm>
          <a:prstGeom prst="rect">
            <a:avLst/>
          </a:prstGeom>
          <a:noFill/>
          <a:ln/>
        </p:spPr>
        <p:txBody>
          <a:bodyPr wrap="none" rtlCol="0" anchor="t"/>
          <a:lstStyle/>
          <a:p>
            <a:pPr marL="0" indent="0">
              <a:lnSpc>
                <a:spcPts val="2961"/>
              </a:lnSpc>
              <a:buNone/>
            </a:pPr>
            <a:r>
              <a:rPr lang="en-US" sz="2369" b="1" dirty="0">
                <a:solidFill>
                  <a:srgbClr val="5B5F71"/>
                </a:solidFill>
                <a:latin typeface="Instrument Sans" pitchFamily="34" charset="0"/>
                <a:ea typeface="Instrument Sans" pitchFamily="34" charset="-122"/>
                <a:cs typeface="Instrument Sans" pitchFamily="34" charset="-120"/>
              </a:rPr>
              <a:t>Attendance</a:t>
            </a:r>
            <a:endParaRPr lang="en-US" sz="2369" dirty="0"/>
          </a:p>
        </p:txBody>
      </p:sp>
      <p:sp>
        <p:nvSpPr>
          <p:cNvPr id="16" name="Text 13"/>
          <p:cNvSpPr/>
          <p:nvPr/>
        </p:nvSpPr>
        <p:spPr>
          <a:xfrm>
            <a:off x="10415349" y="2686407"/>
            <a:ext cx="3372922" cy="2309574"/>
          </a:xfrm>
          <a:prstGeom prst="rect">
            <a:avLst/>
          </a:prstGeom>
          <a:noFill/>
          <a:ln/>
        </p:spPr>
        <p:txBody>
          <a:bodyPr wrap="square" rtlCol="0" anchor="t"/>
          <a:lstStyle/>
          <a:p>
            <a:pPr marL="0" indent="0">
              <a:lnSpc>
                <a:spcPts val="3032"/>
              </a:lnSpc>
              <a:buNone/>
            </a:pPr>
            <a:r>
              <a:rPr lang="en-US" sz="1895" dirty="0">
                <a:solidFill>
                  <a:srgbClr val="5B5F71"/>
                </a:solidFill>
                <a:latin typeface="Instrument Sans" pitchFamily="34" charset="0"/>
                <a:ea typeface="Instrument Sans" pitchFamily="34" charset="-122"/>
                <a:cs typeface="Instrument Sans" pitchFamily="34" charset="-120"/>
              </a:rPr>
              <a:t>The Attendance module allows for efficient tracking of student and faculty attendance, generating reports, and analyzing attendance patterns.</a:t>
            </a:r>
            <a:endParaRPr lang="en-US" sz="1895" dirty="0"/>
          </a:p>
        </p:txBody>
      </p:sp>
      <p:sp>
        <p:nvSpPr>
          <p:cNvPr id="17" name="Shape 14"/>
          <p:cNvSpPr/>
          <p:nvPr/>
        </p:nvSpPr>
        <p:spPr>
          <a:xfrm>
            <a:off x="842248" y="5507236"/>
            <a:ext cx="541377" cy="541377"/>
          </a:xfrm>
          <a:prstGeom prst="roundRect">
            <a:avLst>
              <a:gd name="adj" fmla="val 18669"/>
            </a:avLst>
          </a:prstGeom>
          <a:solidFill>
            <a:srgbClr val="E3E4E8"/>
          </a:solidFill>
          <a:ln w="7620">
            <a:solidFill>
              <a:srgbClr val="C9CACE"/>
            </a:solidFill>
            <a:prstDash val="solid"/>
          </a:ln>
        </p:spPr>
        <p:txBody>
          <a:bodyPr/>
          <a:lstStyle/>
          <a:p>
            <a:endParaRPr lang="en-IN"/>
          </a:p>
        </p:txBody>
      </p:sp>
      <p:sp>
        <p:nvSpPr>
          <p:cNvPr id="18" name="Text 15"/>
          <p:cNvSpPr/>
          <p:nvPr/>
        </p:nvSpPr>
        <p:spPr>
          <a:xfrm>
            <a:off x="1001911" y="5597366"/>
            <a:ext cx="222052" cy="360998"/>
          </a:xfrm>
          <a:prstGeom prst="rect">
            <a:avLst/>
          </a:prstGeom>
          <a:noFill/>
          <a:ln/>
        </p:spPr>
        <p:txBody>
          <a:bodyPr wrap="none" rtlCol="0" anchor="t"/>
          <a:lstStyle/>
          <a:p>
            <a:pPr marL="0" indent="0" algn="ctr">
              <a:lnSpc>
                <a:spcPts val="2842"/>
              </a:lnSpc>
              <a:buNone/>
            </a:pPr>
            <a:r>
              <a:rPr lang="en-US" sz="2842" b="1" dirty="0">
                <a:solidFill>
                  <a:srgbClr val="5B5F71"/>
                </a:solidFill>
                <a:latin typeface="Instrument Sans" pitchFamily="34" charset="0"/>
                <a:ea typeface="Instrument Sans" pitchFamily="34" charset="-122"/>
                <a:cs typeface="Instrument Sans" pitchFamily="34" charset="-120"/>
              </a:rPr>
              <a:t>4</a:t>
            </a:r>
            <a:endParaRPr lang="en-US" sz="2842" dirty="0"/>
          </a:p>
        </p:txBody>
      </p:sp>
      <p:sp>
        <p:nvSpPr>
          <p:cNvPr id="19" name="Text 16"/>
          <p:cNvSpPr/>
          <p:nvPr/>
        </p:nvSpPr>
        <p:spPr>
          <a:xfrm>
            <a:off x="1624251" y="5507236"/>
            <a:ext cx="3671292" cy="375880"/>
          </a:xfrm>
          <a:prstGeom prst="rect">
            <a:avLst/>
          </a:prstGeom>
          <a:noFill/>
          <a:ln/>
        </p:spPr>
        <p:txBody>
          <a:bodyPr wrap="none" rtlCol="0" anchor="t"/>
          <a:lstStyle/>
          <a:p>
            <a:pPr marL="0" indent="0">
              <a:lnSpc>
                <a:spcPts val="2961"/>
              </a:lnSpc>
              <a:buNone/>
            </a:pPr>
            <a:r>
              <a:rPr lang="en-US" sz="2369" b="1" dirty="0">
                <a:solidFill>
                  <a:srgbClr val="5B5F71"/>
                </a:solidFill>
                <a:latin typeface="Instrument Sans" pitchFamily="34" charset="0"/>
                <a:ea typeface="Instrument Sans" pitchFamily="34" charset="-122"/>
                <a:cs typeface="Instrument Sans" pitchFamily="34" charset="-120"/>
              </a:rPr>
              <a:t>Faculty Information Portal</a:t>
            </a:r>
            <a:endParaRPr lang="en-US" sz="2369" dirty="0"/>
          </a:p>
        </p:txBody>
      </p:sp>
      <p:sp>
        <p:nvSpPr>
          <p:cNvPr id="20" name="Text 17"/>
          <p:cNvSpPr/>
          <p:nvPr/>
        </p:nvSpPr>
        <p:spPr>
          <a:xfrm>
            <a:off x="1624251" y="6027420"/>
            <a:ext cx="5570696" cy="1539716"/>
          </a:xfrm>
          <a:prstGeom prst="rect">
            <a:avLst/>
          </a:prstGeom>
          <a:noFill/>
          <a:ln/>
        </p:spPr>
        <p:txBody>
          <a:bodyPr wrap="square" rtlCol="0" anchor="t"/>
          <a:lstStyle/>
          <a:p>
            <a:pPr marL="0" indent="0">
              <a:lnSpc>
                <a:spcPts val="3032"/>
              </a:lnSpc>
              <a:buNone/>
            </a:pPr>
            <a:r>
              <a:rPr lang="en-US" sz="1895" dirty="0">
                <a:solidFill>
                  <a:srgbClr val="5B5F71"/>
                </a:solidFill>
                <a:latin typeface="Instrument Sans" pitchFamily="34" charset="0"/>
                <a:ea typeface="Instrument Sans" pitchFamily="34" charset="-122"/>
                <a:cs typeface="Instrument Sans" pitchFamily="34" charset="-120"/>
              </a:rPr>
              <a:t>The Faculty Information Portal provides a dedicated platform for faculty members to access their information, manage their schedules, and communicate with students.</a:t>
            </a:r>
            <a:endParaRPr lang="en-US" sz="1895" dirty="0"/>
          </a:p>
        </p:txBody>
      </p:sp>
      <p:sp>
        <p:nvSpPr>
          <p:cNvPr id="21" name="Shape 18"/>
          <p:cNvSpPr/>
          <p:nvPr/>
        </p:nvSpPr>
        <p:spPr>
          <a:xfrm>
            <a:off x="7435572" y="5507236"/>
            <a:ext cx="541377" cy="541377"/>
          </a:xfrm>
          <a:prstGeom prst="roundRect">
            <a:avLst>
              <a:gd name="adj" fmla="val 18669"/>
            </a:avLst>
          </a:prstGeom>
          <a:solidFill>
            <a:srgbClr val="E3E4E8"/>
          </a:solidFill>
          <a:ln w="7620">
            <a:solidFill>
              <a:srgbClr val="C9CACE"/>
            </a:solidFill>
            <a:prstDash val="solid"/>
          </a:ln>
        </p:spPr>
        <p:txBody>
          <a:bodyPr/>
          <a:lstStyle/>
          <a:p>
            <a:endParaRPr lang="en-IN"/>
          </a:p>
        </p:txBody>
      </p:sp>
      <p:sp>
        <p:nvSpPr>
          <p:cNvPr id="22" name="Text 19"/>
          <p:cNvSpPr/>
          <p:nvPr/>
        </p:nvSpPr>
        <p:spPr>
          <a:xfrm>
            <a:off x="7601307" y="5597366"/>
            <a:ext cx="209788" cy="360998"/>
          </a:xfrm>
          <a:prstGeom prst="rect">
            <a:avLst/>
          </a:prstGeom>
          <a:noFill/>
          <a:ln/>
        </p:spPr>
        <p:txBody>
          <a:bodyPr wrap="none" rtlCol="0" anchor="t"/>
          <a:lstStyle/>
          <a:p>
            <a:pPr marL="0" indent="0" algn="ctr">
              <a:lnSpc>
                <a:spcPts val="2842"/>
              </a:lnSpc>
              <a:buNone/>
            </a:pPr>
            <a:r>
              <a:rPr lang="en-US" sz="2842" b="1" dirty="0">
                <a:solidFill>
                  <a:srgbClr val="5B5F71"/>
                </a:solidFill>
                <a:latin typeface="Instrument Sans" pitchFamily="34" charset="0"/>
                <a:ea typeface="Instrument Sans" pitchFamily="34" charset="-122"/>
                <a:cs typeface="Instrument Sans" pitchFamily="34" charset="-120"/>
              </a:rPr>
              <a:t>5</a:t>
            </a:r>
            <a:endParaRPr lang="en-US" sz="2842" dirty="0"/>
          </a:p>
        </p:txBody>
      </p:sp>
      <p:sp>
        <p:nvSpPr>
          <p:cNvPr id="23" name="Text 20"/>
          <p:cNvSpPr/>
          <p:nvPr/>
        </p:nvSpPr>
        <p:spPr>
          <a:xfrm>
            <a:off x="8217575" y="5507236"/>
            <a:ext cx="3782616" cy="375880"/>
          </a:xfrm>
          <a:prstGeom prst="rect">
            <a:avLst/>
          </a:prstGeom>
          <a:noFill/>
          <a:ln/>
        </p:spPr>
        <p:txBody>
          <a:bodyPr wrap="none" rtlCol="0" anchor="t"/>
          <a:lstStyle/>
          <a:p>
            <a:pPr marL="0" indent="0">
              <a:lnSpc>
                <a:spcPts val="2961"/>
              </a:lnSpc>
              <a:buNone/>
            </a:pPr>
            <a:r>
              <a:rPr lang="en-US" sz="2369" b="1" dirty="0">
                <a:solidFill>
                  <a:srgbClr val="5B5F71"/>
                </a:solidFill>
                <a:latin typeface="Instrument Sans" pitchFamily="34" charset="0"/>
                <a:ea typeface="Instrument Sans" pitchFamily="34" charset="-122"/>
                <a:cs typeface="Instrument Sans" pitchFamily="34" charset="-120"/>
              </a:rPr>
              <a:t>Student Information Portal</a:t>
            </a:r>
            <a:endParaRPr lang="en-US" sz="2369" dirty="0"/>
          </a:p>
        </p:txBody>
      </p:sp>
      <p:sp>
        <p:nvSpPr>
          <p:cNvPr id="24" name="Text 21"/>
          <p:cNvSpPr/>
          <p:nvPr/>
        </p:nvSpPr>
        <p:spPr>
          <a:xfrm>
            <a:off x="8217575" y="6027420"/>
            <a:ext cx="5570696" cy="1539716"/>
          </a:xfrm>
          <a:prstGeom prst="rect">
            <a:avLst/>
          </a:prstGeom>
          <a:noFill/>
          <a:ln/>
        </p:spPr>
        <p:txBody>
          <a:bodyPr wrap="square" rtlCol="0" anchor="t"/>
          <a:lstStyle/>
          <a:p>
            <a:pPr marL="0" indent="0">
              <a:lnSpc>
                <a:spcPts val="3032"/>
              </a:lnSpc>
              <a:buNone/>
            </a:pPr>
            <a:r>
              <a:rPr lang="en-US" sz="1895" dirty="0">
                <a:solidFill>
                  <a:srgbClr val="5B5F71"/>
                </a:solidFill>
                <a:latin typeface="Instrument Sans" pitchFamily="34" charset="0"/>
                <a:ea typeface="Instrument Sans" pitchFamily="34" charset="-122"/>
                <a:cs typeface="Instrument Sans" pitchFamily="34" charset="-120"/>
              </a:rPr>
              <a:t>The Student Information Portal provides a platform for students to access their academic records, view their schedules, and communicate with faculty.</a:t>
            </a:r>
            <a:endParaRPr lang="en-US" sz="189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43173"/>
          </a:xfrm>
          <a:prstGeom prst="rect">
            <a:avLst/>
          </a:prstGeom>
          <a:solidFill>
            <a:srgbClr val="FFFFFF">
              <a:alpha val="75000"/>
            </a:srgbClr>
          </a:solidFill>
          <a:ln/>
        </p:spPr>
        <p:txBody>
          <a:bodyPr/>
          <a:lstStyle/>
          <a:p>
            <a:endParaRPr lang="en-IN"/>
          </a:p>
        </p:txBody>
      </p:sp>
      <p:sp>
        <p:nvSpPr>
          <p:cNvPr id="4" name="Text 1"/>
          <p:cNvSpPr/>
          <p:nvPr/>
        </p:nvSpPr>
        <p:spPr>
          <a:xfrm>
            <a:off x="2594967" y="475178"/>
            <a:ext cx="5518309" cy="540068"/>
          </a:xfrm>
          <a:prstGeom prst="rect">
            <a:avLst/>
          </a:prstGeom>
          <a:noFill/>
          <a:ln/>
        </p:spPr>
        <p:txBody>
          <a:bodyPr wrap="none" rtlCol="0" anchor="t"/>
          <a:lstStyle/>
          <a:p>
            <a:pPr marL="0" indent="0">
              <a:lnSpc>
                <a:spcPts val="4253"/>
              </a:lnSpc>
              <a:buNone/>
            </a:pPr>
            <a:r>
              <a:rPr lang="en-US" sz="3402" b="1" dirty="0">
                <a:solidFill>
                  <a:srgbClr val="5B5F72"/>
                </a:solidFill>
                <a:latin typeface="Instrument Sans" pitchFamily="34" charset="0"/>
                <a:ea typeface="Instrument Sans" pitchFamily="34" charset="-122"/>
                <a:cs typeface="Instrument Sans" pitchFamily="34" charset="-120"/>
              </a:rPr>
              <a:t>Purpose of the ERP System</a:t>
            </a:r>
            <a:endParaRPr lang="en-US" sz="3402" dirty="0"/>
          </a:p>
        </p:txBody>
      </p:sp>
      <p:sp>
        <p:nvSpPr>
          <p:cNvPr id="5" name="Shape 2"/>
          <p:cNvSpPr/>
          <p:nvPr/>
        </p:nvSpPr>
        <p:spPr>
          <a:xfrm>
            <a:off x="2594967" y="1360884"/>
            <a:ext cx="3031569" cy="2387084"/>
          </a:xfrm>
          <a:prstGeom prst="roundRect">
            <a:avLst>
              <a:gd name="adj" fmla="val 3041"/>
            </a:avLst>
          </a:prstGeom>
          <a:solidFill>
            <a:srgbClr val="E3E4E8"/>
          </a:solidFill>
          <a:ln w="7620">
            <a:solidFill>
              <a:srgbClr val="C9CACE"/>
            </a:solidFill>
            <a:prstDash val="solid"/>
          </a:ln>
        </p:spPr>
        <p:txBody>
          <a:bodyPr/>
          <a:lstStyle/>
          <a:p>
            <a:endParaRPr lang="en-IN"/>
          </a:p>
        </p:txBody>
      </p:sp>
      <p:sp>
        <p:nvSpPr>
          <p:cNvPr id="6" name="Text 3"/>
          <p:cNvSpPr/>
          <p:nvPr/>
        </p:nvSpPr>
        <p:spPr>
          <a:xfrm>
            <a:off x="2775347" y="1541264"/>
            <a:ext cx="2670810" cy="539829"/>
          </a:xfrm>
          <a:prstGeom prst="rect">
            <a:avLst/>
          </a:prstGeom>
          <a:noFill/>
          <a:ln/>
        </p:spPr>
        <p:txBody>
          <a:bodyPr wrap="squar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Drive Operational Efficiency</a:t>
            </a:r>
            <a:endParaRPr lang="en-US" sz="1701" dirty="0"/>
          </a:p>
        </p:txBody>
      </p:sp>
      <p:sp>
        <p:nvSpPr>
          <p:cNvPr id="7" name="Text 4"/>
          <p:cNvSpPr/>
          <p:nvPr/>
        </p:nvSpPr>
        <p:spPr>
          <a:xfrm>
            <a:off x="2775347" y="2184678"/>
            <a:ext cx="2670810" cy="1382911"/>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The ERP system aims to streamline processes, reduce manual tasks, and improve overall efficiency within the institution.</a:t>
            </a:r>
            <a:endParaRPr lang="en-US" sz="1361" dirty="0"/>
          </a:p>
        </p:txBody>
      </p:sp>
      <p:sp>
        <p:nvSpPr>
          <p:cNvPr id="8" name="Shape 5"/>
          <p:cNvSpPr/>
          <p:nvPr/>
        </p:nvSpPr>
        <p:spPr>
          <a:xfrm>
            <a:off x="5799296" y="1360884"/>
            <a:ext cx="3031569" cy="2387084"/>
          </a:xfrm>
          <a:prstGeom prst="roundRect">
            <a:avLst>
              <a:gd name="adj" fmla="val 3041"/>
            </a:avLst>
          </a:prstGeom>
          <a:solidFill>
            <a:srgbClr val="E3E4E8"/>
          </a:solidFill>
          <a:ln w="7620">
            <a:solidFill>
              <a:srgbClr val="C9CACE"/>
            </a:solidFill>
            <a:prstDash val="solid"/>
          </a:ln>
        </p:spPr>
        <p:txBody>
          <a:bodyPr/>
          <a:lstStyle/>
          <a:p>
            <a:endParaRPr lang="en-IN"/>
          </a:p>
        </p:txBody>
      </p:sp>
      <p:sp>
        <p:nvSpPr>
          <p:cNvPr id="9" name="Text 6"/>
          <p:cNvSpPr/>
          <p:nvPr/>
        </p:nvSpPr>
        <p:spPr>
          <a:xfrm>
            <a:off x="5979676" y="1541264"/>
            <a:ext cx="2160270" cy="269915"/>
          </a:xfrm>
          <a:prstGeom prst="rect">
            <a:avLst/>
          </a:prstGeom>
          <a:noFill/>
          <a:ln/>
        </p:spPr>
        <p:txBody>
          <a:bodyPr wrap="non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Self-Service Systems</a:t>
            </a:r>
            <a:endParaRPr lang="en-US" sz="1701" dirty="0"/>
          </a:p>
        </p:txBody>
      </p:sp>
      <p:sp>
        <p:nvSpPr>
          <p:cNvPr id="10" name="Text 7"/>
          <p:cNvSpPr/>
          <p:nvPr/>
        </p:nvSpPr>
        <p:spPr>
          <a:xfrm>
            <a:off x="5979676" y="1914763"/>
            <a:ext cx="2670810" cy="1382911"/>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The system provides self-service features for students, faculty, and staff, simplifying common tasks and reducing reliance on administrative staff.</a:t>
            </a:r>
            <a:endParaRPr lang="en-US" sz="1361" dirty="0"/>
          </a:p>
        </p:txBody>
      </p:sp>
      <p:sp>
        <p:nvSpPr>
          <p:cNvPr id="11" name="Shape 8"/>
          <p:cNvSpPr/>
          <p:nvPr/>
        </p:nvSpPr>
        <p:spPr>
          <a:xfrm>
            <a:off x="9003625" y="1360884"/>
            <a:ext cx="3031569" cy="2387084"/>
          </a:xfrm>
          <a:prstGeom prst="roundRect">
            <a:avLst>
              <a:gd name="adj" fmla="val 3041"/>
            </a:avLst>
          </a:prstGeom>
          <a:solidFill>
            <a:srgbClr val="E3E4E8"/>
          </a:solidFill>
          <a:ln w="7620">
            <a:solidFill>
              <a:srgbClr val="C9CACE"/>
            </a:solidFill>
            <a:prstDash val="solid"/>
          </a:ln>
        </p:spPr>
        <p:txBody>
          <a:bodyPr/>
          <a:lstStyle/>
          <a:p>
            <a:endParaRPr lang="en-IN"/>
          </a:p>
        </p:txBody>
      </p:sp>
      <p:sp>
        <p:nvSpPr>
          <p:cNvPr id="12" name="Text 9"/>
          <p:cNvSpPr/>
          <p:nvPr/>
        </p:nvSpPr>
        <p:spPr>
          <a:xfrm>
            <a:off x="9184005" y="1541264"/>
            <a:ext cx="2670810" cy="539829"/>
          </a:xfrm>
          <a:prstGeom prst="rect">
            <a:avLst/>
          </a:prstGeom>
          <a:noFill/>
          <a:ln/>
        </p:spPr>
        <p:txBody>
          <a:bodyPr wrap="squar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Elimination of Duplicate Data Entry</a:t>
            </a:r>
            <a:endParaRPr lang="en-US" sz="1701" dirty="0"/>
          </a:p>
        </p:txBody>
      </p:sp>
      <p:sp>
        <p:nvSpPr>
          <p:cNvPr id="13" name="Text 10"/>
          <p:cNvSpPr/>
          <p:nvPr/>
        </p:nvSpPr>
        <p:spPr>
          <a:xfrm>
            <a:off x="9184005" y="2184678"/>
            <a:ext cx="2670810" cy="1106329"/>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The ERP system integrates data across departments, eliminating the need for duplicate data entry and ensuring data consistency.</a:t>
            </a:r>
            <a:endParaRPr lang="en-US" sz="1361" dirty="0"/>
          </a:p>
        </p:txBody>
      </p:sp>
      <p:sp>
        <p:nvSpPr>
          <p:cNvPr id="14" name="Shape 11"/>
          <p:cNvSpPr/>
          <p:nvPr/>
        </p:nvSpPr>
        <p:spPr>
          <a:xfrm>
            <a:off x="2594967" y="3920728"/>
            <a:ext cx="3031569" cy="2387084"/>
          </a:xfrm>
          <a:prstGeom prst="roundRect">
            <a:avLst>
              <a:gd name="adj" fmla="val 3041"/>
            </a:avLst>
          </a:prstGeom>
          <a:solidFill>
            <a:srgbClr val="E3E4E8"/>
          </a:solidFill>
          <a:ln w="7620">
            <a:solidFill>
              <a:srgbClr val="C9CACE"/>
            </a:solidFill>
            <a:prstDash val="solid"/>
          </a:ln>
        </p:spPr>
        <p:txBody>
          <a:bodyPr/>
          <a:lstStyle/>
          <a:p>
            <a:endParaRPr lang="en-IN"/>
          </a:p>
        </p:txBody>
      </p:sp>
      <p:sp>
        <p:nvSpPr>
          <p:cNvPr id="15" name="Text 12"/>
          <p:cNvSpPr/>
          <p:nvPr/>
        </p:nvSpPr>
        <p:spPr>
          <a:xfrm>
            <a:off x="2775347" y="4101108"/>
            <a:ext cx="2670810" cy="539829"/>
          </a:xfrm>
          <a:prstGeom prst="rect">
            <a:avLst/>
          </a:prstGeom>
          <a:noFill/>
          <a:ln/>
        </p:spPr>
        <p:txBody>
          <a:bodyPr wrap="squar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Integrated with Online Application Workflow</a:t>
            </a:r>
            <a:endParaRPr lang="en-US" sz="1701" dirty="0"/>
          </a:p>
        </p:txBody>
      </p:sp>
      <p:sp>
        <p:nvSpPr>
          <p:cNvPr id="16" name="Text 13"/>
          <p:cNvSpPr/>
          <p:nvPr/>
        </p:nvSpPr>
        <p:spPr>
          <a:xfrm>
            <a:off x="2775347" y="4744522"/>
            <a:ext cx="2670810" cy="1382911"/>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The system integrates with online application workflows, providing a unified data model for managing student applications and admissions.</a:t>
            </a:r>
            <a:endParaRPr lang="en-US" sz="1361" dirty="0"/>
          </a:p>
        </p:txBody>
      </p:sp>
      <p:sp>
        <p:nvSpPr>
          <p:cNvPr id="17" name="Shape 14"/>
          <p:cNvSpPr/>
          <p:nvPr/>
        </p:nvSpPr>
        <p:spPr>
          <a:xfrm>
            <a:off x="5799296" y="3920728"/>
            <a:ext cx="3031569" cy="2387084"/>
          </a:xfrm>
          <a:prstGeom prst="roundRect">
            <a:avLst>
              <a:gd name="adj" fmla="val 3041"/>
            </a:avLst>
          </a:prstGeom>
          <a:solidFill>
            <a:srgbClr val="E3E4E8"/>
          </a:solidFill>
          <a:ln w="7620">
            <a:solidFill>
              <a:srgbClr val="C9CACE"/>
            </a:solidFill>
            <a:prstDash val="solid"/>
          </a:ln>
        </p:spPr>
        <p:txBody>
          <a:bodyPr/>
          <a:lstStyle/>
          <a:p>
            <a:endParaRPr lang="en-IN"/>
          </a:p>
        </p:txBody>
      </p:sp>
      <p:sp>
        <p:nvSpPr>
          <p:cNvPr id="18" name="Text 15"/>
          <p:cNvSpPr/>
          <p:nvPr/>
        </p:nvSpPr>
        <p:spPr>
          <a:xfrm>
            <a:off x="5979676" y="4101108"/>
            <a:ext cx="2670810" cy="539829"/>
          </a:xfrm>
          <a:prstGeom prst="rect">
            <a:avLst/>
          </a:prstGeom>
          <a:noFill/>
          <a:ln/>
        </p:spPr>
        <p:txBody>
          <a:bodyPr wrap="squar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Monitoring and Decision Support System</a:t>
            </a:r>
            <a:endParaRPr lang="en-US" sz="1701" dirty="0"/>
          </a:p>
        </p:txBody>
      </p:sp>
      <p:sp>
        <p:nvSpPr>
          <p:cNvPr id="19" name="Text 16"/>
          <p:cNvSpPr/>
          <p:nvPr/>
        </p:nvSpPr>
        <p:spPr>
          <a:xfrm>
            <a:off x="5979676" y="4744522"/>
            <a:ext cx="2670810" cy="1382911"/>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The ERP system provides valuable insights and data for monitoring key performance indicators and making informed decisions.</a:t>
            </a:r>
            <a:endParaRPr lang="en-US" sz="1361" dirty="0"/>
          </a:p>
        </p:txBody>
      </p:sp>
      <p:sp>
        <p:nvSpPr>
          <p:cNvPr id="20" name="Shape 17"/>
          <p:cNvSpPr/>
          <p:nvPr/>
        </p:nvSpPr>
        <p:spPr>
          <a:xfrm>
            <a:off x="9003625" y="3920728"/>
            <a:ext cx="3031569" cy="2387084"/>
          </a:xfrm>
          <a:prstGeom prst="roundRect">
            <a:avLst>
              <a:gd name="adj" fmla="val 3041"/>
            </a:avLst>
          </a:prstGeom>
          <a:solidFill>
            <a:srgbClr val="E3E4E8"/>
          </a:solidFill>
          <a:ln w="7620">
            <a:solidFill>
              <a:srgbClr val="C9CACE"/>
            </a:solidFill>
            <a:prstDash val="solid"/>
          </a:ln>
        </p:spPr>
        <p:txBody>
          <a:bodyPr/>
          <a:lstStyle/>
          <a:p>
            <a:endParaRPr lang="en-IN"/>
          </a:p>
        </p:txBody>
      </p:sp>
      <p:sp>
        <p:nvSpPr>
          <p:cNvPr id="21" name="Text 18"/>
          <p:cNvSpPr/>
          <p:nvPr/>
        </p:nvSpPr>
        <p:spPr>
          <a:xfrm>
            <a:off x="9184005" y="4101108"/>
            <a:ext cx="2637830" cy="269915"/>
          </a:xfrm>
          <a:prstGeom prst="rect">
            <a:avLst/>
          </a:prstGeom>
          <a:noFill/>
          <a:ln/>
        </p:spPr>
        <p:txBody>
          <a:bodyPr wrap="non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Automation of Operations</a:t>
            </a:r>
            <a:endParaRPr lang="en-US" sz="1701" dirty="0"/>
          </a:p>
        </p:txBody>
      </p:sp>
      <p:sp>
        <p:nvSpPr>
          <p:cNvPr id="22" name="Text 19"/>
          <p:cNvSpPr/>
          <p:nvPr/>
        </p:nvSpPr>
        <p:spPr>
          <a:xfrm>
            <a:off x="9184005" y="4474607"/>
            <a:ext cx="2670810" cy="1382911"/>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The system automates many academic, examination, and administrative operations, reducing manual effort and improving accuracy.</a:t>
            </a:r>
            <a:endParaRPr lang="en-US" sz="1361" dirty="0"/>
          </a:p>
        </p:txBody>
      </p:sp>
      <p:sp>
        <p:nvSpPr>
          <p:cNvPr id="23" name="Shape 20"/>
          <p:cNvSpPr/>
          <p:nvPr/>
        </p:nvSpPr>
        <p:spPr>
          <a:xfrm>
            <a:off x="2594967" y="6480572"/>
            <a:ext cx="9440347" cy="1287423"/>
          </a:xfrm>
          <a:prstGeom prst="roundRect">
            <a:avLst>
              <a:gd name="adj" fmla="val 5638"/>
            </a:avLst>
          </a:prstGeom>
          <a:solidFill>
            <a:srgbClr val="E3E4E8"/>
          </a:solidFill>
          <a:ln w="7620">
            <a:solidFill>
              <a:srgbClr val="C9CACE"/>
            </a:solidFill>
            <a:prstDash val="solid"/>
          </a:ln>
        </p:spPr>
        <p:txBody>
          <a:bodyPr/>
          <a:lstStyle/>
          <a:p>
            <a:endParaRPr lang="en-IN"/>
          </a:p>
        </p:txBody>
      </p:sp>
      <p:sp>
        <p:nvSpPr>
          <p:cNvPr id="24" name="Text 21"/>
          <p:cNvSpPr/>
          <p:nvPr/>
        </p:nvSpPr>
        <p:spPr>
          <a:xfrm>
            <a:off x="2775347" y="6660952"/>
            <a:ext cx="3213378" cy="269915"/>
          </a:xfrm>
          <a:prstGeom prst="rect">
            <a:avLst/>
          </a:prstGeom>
          <a:noFill/>
          <a:ln/>
        </p:spPr>
        <p:txBody>
          <a:bodyPr wrap="non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Ease and Accuracy of Reporting</a:t>
            </a:r>
            <a:endParaRPr lang="en-US" sz="1701" dirty="0"/>
          </a:p>
        </p:txBody>
      </p:sp>
      <p:sp>
        <p:nvSpPr>
          <p:cNvPr id="25" name="Text 22"/>
          <p:cNvSpPr/>
          <p:nvPr/>
        </p:nvSpPr>
        <p:spPr>
          <a:xfrm>
            <a:off x="2775347" y="7034451"/>
            <a:ext cx="9079587" cy="553164"/>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The ERP system provides easy-to-generate reports with accurate data, supporting informed decision-making and performance analysis.</a:t>
            </a:r>
            <a:endParaRPr lang="en-US" sz="136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txBody>
          <a:bodyPr/>
          <a:lstStyle/>
          <a:p>
            <a:endParaRPr lang="en-IN"/>
          </a:p>
        </p:txBody>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308610" y="2491740"/>
            <a:ext cx="4869180" cy="3246120"/>
          </a:xfrm>
          <a:prstGeom prst="rect">
            <a:avLst/>
          </a:prstGeom>
        </p:spPr>
      </p:pic>
      <p:sp>
        <p:nvSpPr>
          <p:cNvPr id="6" name="Text 1"/>
          <p:cNvSpPr/>
          <p:nvPr/>
        </p:nvSpPr>
        <p:spPr>
          <a:xfrm>
            <a:off x="6350437" y="2161223"/>
            <a:ext cx="6172200" cy="771525"/>
          </a:xfrm>
          <a:prstGeom prst="rect">
            <a:avLst/>
          </a:prstGeom>
          <a:noFill/>
          <a:ln/>
        </p:spPr>
        <p:txBody>
          <a:bodyPr wrap="none" rtlCol="0" anchor="t"/>
          <a:lstStyle/>
          <a:p>
            <a:pPr marL="0" indent="0">
              <a:lnSpc>
                <a:spcPts val="6075"/>
              </a:lnSpc>
              <a:buNone/>
            </a:pPr>
            <a:r>
              <a:rPr lang="en-US" sz="4860" b="1" dirty="0">
                <a:solidFill>
                  <a:srgbClr val="5B5F72"/>
                </a:solidFill>
                <a:latin typeface="Instrument Sans" pitchFamily="34" charset="0"/>
                <a:ea typeface="Instrument Sans" pitchFamily="34" charset="-122"/>
                <a:cs typeface="Instrument Sans" pitchFamily="34" charset="-120"/>
              </a:rPr>
              <a:t>Scope of the Project</a:t>
            </a:r>
            <a:endParaRPr lang="en-US" sz="4860" dirty="0"/>
          </a:p>
        </p:txBody>
      </p:sp>
      <p:sp>
        <p:nvSpPr>
          <p:cNvPr id="7" name="Text 2"/>
          <p:cNvSpPr/>
          <p:nvPr/>
        </p:nvSpPr>
        <p:spPr>
          <a:xfrm>
            <a:off x="6350437" y="3303032"/>
            <a:ext cx="7415927" cy="2765346"/>
          </a:xfrm>
          <a:prstGeom prst="rect">
            <a:avLst/>
          </a:prstGeom>
          <a:noFill/>
          <a:ln/>
        </p:spPr>
        <p:txBody>
          <a:bodyPr wrap="squar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This project focuses on implementing a comprehensive ERP system to manage various aspects of the college management process. The existing system relies heavily on manual processes for tasks such as registration, student search, fees, attendance, exam records, and student performance tracking. This project aims to automate these processes, improving efficiency and accuracy.</a:t>
            </a:r>
            <a:endParaRPr lang="en-US" sz="194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txBody>
          <a:bodyPr/>
          <a:lstStyle/>
          <a:p>
            <a:endParaRPr lang="en-IN"/>
          </a:p>
        </p:txBody>
      </p:sp>
      <p:sp>
        <p:nvSpPr>
          <p:cNvPr id="6" name="Text 1"/>
          <p:cNvSpPr/>
          <p:nvPr/>
        </p:nvSpPr>
        <p:spPr>
          <a:xfrm>
            <a:off x="864037" y="702588"/>
            <a:ext cx="7030164" cy="771525"/>
          </a:xfrm>
          <a:prstGeom prst="rect">
            <a:avLst/>
          </a:prstGeom>
          <a:noFill/>
          <a:ln/>
        </p:spPr>
        <p:txBody>
          <a:bodyPr wrap="none" rtlCol="0" anchor="t"/>
          <a:lstStyle/>
          <a:p>
            <a:pPr marL="0" indent="0">
              <a:lnSpc>
                <a:spcPts val="6075"/>
              </a:lnSpc>
              <a:buNone/>
            </a:pPr>
            <a:r>
              <a:rPr lang="en-US" sz="4860" b="1" dirty="0">
                <a:solidFill>
                  <a:srgbClr val="5B5F72"/>
                </a:solidFill>
                <a:latin typeface="Instrument Sans" pitchFamily="34" charset="0"/>
                <a:ea typeface="Instrument Sans" pitchFamily="34" charset="-122"/>
                <a:cs typeface="Instrument Sans" pitchFamily="34" charset="-120"/>
              </a:rPr>
              <a:t>Hardware Requirements</a:t>
            </a:r>
            <a:endParaRPr lang="en-US" sz="4860" dirty="0"/>
          </a:p>
        </p:txBody>
      </p:sp>
      <p:sp>
        <p:nvSpPr>
          <p:cNvPr id="7" name="Shape 2"/>
          <p:cNvSpPr/>
          <p:nvPr/>
        </p:nvSpPr>
        <p:spPr>
          <a:xfrm>
            <a:off x="864037" y="1844397"/>
            <a:ext cx="7415927" cy="5682615"/>
          </a:xfrm>
          <a:prstGeom prst="roundRect">
            <a:avLst>
              <a:gd name="adj" fmla="val 1825"/>
            </a:avLst>
          </a:prstGeom>
          <a:noFill/>
          <a:ln w="15240">
            <a:solidFill>
              <a:srgbClr val="000000">
                <a:alpha val="8000"/>
              </a:srgbClr>
            </a:solidFill>
            <a:prstDash val="solid"/>
          </a:ln>
        </p:spPr>
        <p:txBody>
          <a:bodyPr/>
          <a:lstStyle/>
          <a:p>
            <a:endParaRPr lang="en-IN"/>
          </a:p>
        </p:txBody>
      </p:sp>
      <p:sp>
        <p:nvSpPr>
          <p:cNvPr id="8" name="Shape 3"/>
          <p:cNvSpPr/>
          <p:nvPr/>
        </p:nvSpPr>
        <p:spPr>
          <a:xfrm>
            <a:off x="879277" y="1859637"/>
            <a:ext cx="7385447" cy="706517"/>
          </a:xfrm>
          <a:prstGeom prst="rect">
            <a:avLst/>
          </a:prstGeom>
          <a:solidFill>
            <a:srgbClr val="FFFFFF">
              <a:alpha val="4000"/>
            </a:srgbClr>
          </a:solidFill>
          <a:ln/>
        </p:spPr>
        <p:txBody>
          <a:bodyPr/>
          <a:lstStyle/>
          <a:p>
            <a:endParaRPr lang="en-IN"/>
          </a:p>
        </p:txBody>
      </p:sp>
      <p:sp>
        <p:nvSpPr>
          <p:cNvPr id="9" name="Text 4"/>
          <p:cNvSpPr/>
          <p:nvPr/>
        </p:nvSpPr>
        <p:spPr>
          <a:xfrm>
            <a:off x="1126093" y="2015371"/>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Processor Brand</a:t>
            </a:r>
            <a:endParaRPr lang="en-US" sz="1944" dirty="0"/>
          </a:p>
        </p:txBody>
      </p:sp>
      <p:sp>
        <p:nvSpPr>
          <p:cNvPr id="10" name="Text 5"/>
          <p:cNvSpPr/>
          <p:nvPr/>
        </p:nvSpPr>
        <p:spPr>
          <a:xfrm>
            <a:off x="4822627" y="2015371"/>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Intel</a:t>
            </a:r>
            <a:endParaRPr lang="en-US" sz="1944" dirty="0"/>
          </a:p>
        </p:txBody>
      </p:sp>
      <p:sp>
        <p:nvSpPr>
          <p:cNvPr id="11" name="Shape 6"/>
          <p:cNvSpPr/>
          <p:nvPr/>
        </p:nvSpPr>
        <p:spPr>
          <a:xfrm>
            <a:off x="879277" y="2566154"/>
            <a:ext cx="7385447" cy="706517"/>
          </a:xfrm>
          <a:prstGeom prst="rect">
            <a:avLst/>
          </a:prstGeom>
          <a:solidFill>
            <a:srgbClr val="000000">
              <a:alpha val="4000"/>
            </a:srgbClr>
          </a:solidFill>
          <a:ln/>
        </p:spPr>
        <p:txBody>
          <a:bodyPr/>
          <a:lstStyle/>
          <a:p>
            <a:endParaRPr lang="en-IN"/>
          </a:p>
        </p:txBody>
      </p:sp>
      <p:sp>
        <p:nvSpPr>
          <p:cNvPr id="12" name="Text 7"/>
          <p:cNvSpPr/>
          <p:nvPr/>
        </p:nvSpPr>
        <p:spPr>
          <a:xfrm>
            <a:off x="1126093" y="2721888"/>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Processor Type</a:t>
            </a:r>
            <a:endParaRPr lang="en-US" sz="1944" dirty="0"/>
          </a:p>
        </p:txBody>
      </p:sp>
      <p:sp>
        <p:nvSpPr>
          <p:cNvPr id="13" name="Text 8"/>
          <p:cNvSpPr/>
          <p:nvPr/>
        </p:nvSpPr>
        <p:spPr>
          <a:xfrm>
            <a:off x="4822627" y="2721888"/>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Core i3</a:t>
            </a:r>
            <a:endParaRPr lang="en-US" sz="1944" dirty="0"/>
          </a:p>
        </p:txBody>
      </p:sp>
      <p:sp>
        <p:nvSpPr>
          <p:cNvPr id="14" name="Shape 9"/>
          <p:cNvSpPr/>
          <p:nvPr/>
        </p:nvSpPr>
        <p:spPr>
          <a:xfrm>
            <a:off x="879277" y="3272671"/>
            <a:ext cx="7385447" cy="706517"/>
          </a:xfrm>
          <a:prstGeom prst="rect">
            <a:avLst/>
          </a:prstGeom>
          <a:solidFill>
            <a:srgbClr val="FFFFFF">
              <a:alpha val="4000"/>
            </a:srgbClr>
          </a:solidFill>
          <a:ln/>
        </p:spPr>
        <p:txBody>
          <a:bodyPr/>
          <a:lstStyle/>
          <a:p>
            <a:endParaRPr lang="en-IN"/>
          </a:p>
        </p:txBody>
      </p:sp>
      <p:sp>
        <p:nvSpPr>
          <p:cNvPr id="15" name="Text 10"/>
          <p:cNvSpPr/>
          <p:nvPr/>
        </p:nvSpPr>
        <p:spPr>
          <a:xfrm>
            <a:off x="1126093" y="3428405"/>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Processor Speed</a:t>
            </a:r>
            <a:endParaRPr lang="en-US" sz="1944" dirty="0"/>
          </a:p>
        </p:txBody>
      </p:sp>
      <p:sp>
        <p:nvSpPr>
          <p:cNvPr id="16" name="Text 11"/>
          <p:cNvSpPr/>
          <p:nvPr/>
        </p:nvSpPr>
        <p:spPr>
          <a:xfrm>
            <a:off x="4822627" y="3428405"/>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2 GHz</a:t>
            </a:r>
            <a:endParaRPr lang="en-US" sz="1944" dirty="0"/>
          </a:p>
        </p:txBody>
      </p:sp>
      <p:sp>
        <p:nvSpPr>
          <p:cNvPr id="17" name="Shape 12"/>
          <p:cNvSpPr/>
          <p:nvPr/>
        </p:nvSpPr>
        <p:spPr>
          <a:xfrm>
            <a:off x="879277" y="3979188"/>
            <a:ext cx="7385447" cy="706517"/>
          </a:xfrm>
          <a:prstGeom prst="rect">
            <a:avLst/>
          </a:prstGeom>
          <a:solidFill>
            <a:srgbClr val="000000">
              <a:alpha val="4000"/>
            </a:srgbClr>
          </a:solidFill>
          <a:ln/>
        </p:spPr>
        <p:txBody>
          <a:bodyPr/>
          <a:lstStyle/>
          <a:p>
            <a:endParaRPr lang="en-IN"/>
          </a:p>
        </p:txBody>
      </p:sp>
      <p:sp>
        <p:nvSpPr>
          <p:cNvPr id="18" name="Text 13"/>
          <p:cNvSpPr/>
          <p:nvPr/>
        </p:nvSpPr>
        <p:spPr>
          <a:xfrm>
            <a:off x="1126093" y="4134922"/>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Processor Count</a:t>
            </a:r>
            <a:endParaRPr lang="en-US" sz="1944" dirty="0"/>
          </a:p>
        </p:txBody>
      </p:sp>
      <p:sp>
        <p:nvSpPr>
          <p:cNvPr id="19" name="Text 14"/>
          <p:cNvSpPr/>
          <p:nvPr/>
        </p:nvSpPr>
        <p:spPr>
          <a:xfrm>
            <a:off x="4822627" y="4134922"/>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1</a:t>
            </a:r>
            <a:endParaRPr lang="en-US" sz="1944" dirty="0"/>
          </a:p>
        </p:txBody>
      </p:sp>
      <p:sp>
        <p:nvSpPr>
          <p:cNvPr id="20" name="Shape 15"/>
          <p:cNvSpPr/>
          <p:nvPr/>
        </p:nvSpPr>
        <p:spPr>
          <a:xfrm>
            <a:off x="879277" y="4685705"/>
            <a:ext cx="7385447" cy="706517"/>
          </a:xfrm>
          <a:prstGeom prst="rect">
            <a:avLst/>
          </a:prstGeom>
          <a:solidFill>
            <a:srgbClr val="FFFFFF">
              <a:alpha val="4000"/>
            </a:srgbClr>
          </a:solidFill>
          <a:ln/>
        </p:spPr>
        <p:txBody>
          <a:bodyPr/>
          <a:lstStyle/>
          <a:p>
            <a:endParaRPr lang="en-IN"/>
          </a:p>
        </p:txBody>
      </p:sp>
      <p:sp>
        <p:nvSpPr>
          <p:cNvPr id="21" name="Text 16"/>
          <p:cNvSpPr/>
          <p:nvPr/>
        </p:nvSpPr>
        <p:spPr>
          <a:xfrm>
            <a:off x="1126093" y="4841438"/>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RAM Size</a:t>
            </a:r>
            <a:endParaRPr lang="en-US" sz="1944" dirty="0"/>
          </a:p>
        </p:txBody>
      </p:sp>
      <p:sp>
        <p:nvSpPr>
          <p:cNvPr id="22" name="Text 17"/>
          <p:cNvSpPr/>
          <p:nvPr/>
        </p:nvSpPr>
        <p:spPr>
          <a:xfrm>
            <a:off x="4822627" y="4841438"/>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2 GB</a:t>
            </a:r>
            <a:endParaRPr lang="en-US" sz="1944" dirty="0"/>
          </a:p>
        </p:txBody>
      </p:sp>
      <p:sp>
        <p:nvSpPr>
          <p:cNvPr id="23" name="Shape 18"/>
          <p:cNvSpPr/>
          <p:nvPr/>
        </p:nvSpPr>
        <p:spPr>
          <a:xfrm>
            <a:off x="879277" y="5392222"/>
            <a:ext cx="7385447" cy="706517"/>
          </a:xfrm>
          <a:prstGeom prst="rect">
            <a:avLst/>
          </a:prstGeom>
          <a:solidFill>
            <a:srgbClr val="000000">
              <a:alpha val="4000"/>
            </a:srgbClr>
          </a:solidFill>
          <a:ln/>
        </p:spPr>
        <p:txBody>
          <a:bodyPr/>
          <a:lstStyle/>
          <a:p>
            <a:endParaRPr lang="en-IN"/>
          </a:p>
        </p:txBody>
      </p:sp>
      <p:sp>
        <p:nvSpPr>
          <p:cNvPr id="24" name="Text 19"/>
          <p:cNvSpPr/>
          <p:nvPr/>
        </p:nvSpPr>
        <p:spPr>
          <a:xfrm>
            <a:off x="1126093" y="5547955"/>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Memory Technology</a:t>
            </a:r>
            <a:endParaRPr lang="en-US" sz="1944" dirty="0"/>
          </a:p>
        </p:txBody>
      </p:sp>
      <p:sp>
        <p:nvSpPr>
          <p:cNvPr id="25" name="Text 20"/>
          <p:cNvSpPr/>
          <p:nvPr/>
        </p:nvSpPr>
        <p:spPr>
          <a:xfrm>
            <a:off x="4822627" y="5547955"/>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DDR3</a:t>
            </a:r>
            <a:endParaRPr lang="en-US" sz="1944" dirty="0"/>
          </a:p>
        </p:txBody>
      </p:sp>
      <p:sp>
        <p:nvSpPr>
          <p:cNvPr id="26" name="Shape 21"/>
          <p:cNvSpPr/>
          <p:nvPr/>
        </p:nvSpPr>
        <p:spPr>
          <a:xfrm>
            <a:off x="879277" y="6098738"/>
            <a:ext cx="7385447" cy="706517"/>
          </a:xfrm>
          <a:prstGeom prst="rect">
            <a:avLst/>
          </a:prstGeom>
          <a:solidFill>
            <a:srgbClr val="FFFFFF">
              <a:alpha val="4000"/>
            </a:srgbClr>
          </a:solidFill>
          <a:ln/>
        </p:spPr>
        <p:txBody>
          <a:bodyPr/>
          <a:lstStyle/>
          <a:p>
            <a:endParaRPr lang="en-IN"/>
          </a:p>
        </p:txBody>
      </p:sp>
      <p:sp>
        <p:nvSpPr>
          <p:cNvPr id="27" name="Text 22"/>
          <p:cNvSpPr/>
          <p:nvPr/>
        </p:nvSpPr>
        <p:spPr>
          <a:xfrm>
            <a:off x="1126093" y="6254472"/>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Computer Memory Type</a:t>
            </a:r>
            <a:endParaRPr lang="en-US" sz="1944" dirty="0"/>
          </a:p>
        </p:txBody>
      </p:sp>
      <p:sp>
        <p:nvSpPr>
          <p:cNvPr id="28" name="Text 23"/>
          <p:cNvSpPr/>
          <p:nvPr/>
        </p:nvSpPr>
        <p:spPr>
          <a:xfrm>
            <a:off x="4822627" y="6254472"/>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DDR3 SDRAM</a:t>
            </a:r>
            <a:endParaRPr lang="en-US" sz="1944" dirty="0"/>
          </a:p>
        </p:txBody>
      </p:sp>
      <p:sp>
        <p:nvSpPr>
          <p:cNvPr id="29" name="Shape 24"/>
          <p:cNvSpPr/>
          <p:nvPr/>
        </p:nvSpPr>
        <p:spPr>
          <a:xfrm>
            <a:off x="879277" y="6805255"/>
            <a:ext cx="7385447" cy="706517"/>
          </a:xfrm>
          <a:prstGeom prst="rect">
            <a:avLst/>
          </a:prstGeom>
          <a:solidFill>
            <a:srgbClr val="000000">
              <a:alpha val="4000"/>
            </a:srgbClr>
          </a:solidFill>
          <a:ln/>
        </p:spPr>
        <p:txBody>
          <a:bodyPr/>
          <a:lstStyle/>
          <a:p>
            <a:endParaRPr lang="en-IN"/>
          </a:p>
        </p:txBody>
      </p:sp>
      <p:sp>
        <p:nvSpPr>
          <p:cNvPr id="30" name="Text 25"/>
          <p:cNvSpPr/>
          <p:nvPr/>
        </p:nvSpPr>
        <p:spPr>
          <a:xfrm>
            <a:off x="1126093" y="6960989"/>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Hard Drive Size</a:t>
            </a:r>
            <a:endParaRPr lang="en-US" sz="1944" dirty="0"/>
          </a:p>
        </p:txBody>
      </p:sp>
      <p:sp>
        <p:nvSpPr>
          <p:cNvPr id="31" name="Text 26"/>
          <p:cNvSpPr/>
          <p:nvPr/>
        </p:nvSpPr>
        <p:spPr>
          <a:xfrm>
            <a:off x="4822627" y="6960989"/>
            <a:ext cx="3195280"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160 GB</a:t>
            </a:r>
            <a:endParaRPr lang="en-US" sz="194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txBody>
          <a:bodyPr/>
          <a:lstStyle/>
          <a:p>
            <a:endParaRPr lang="en-IN"/>
          </a:p>
        </p:txBody>
      </p:sp>
      <p:sp>
        <p:nvSpPr>
          <p:cNvPr id="4" name="Text 1"/>
          <p:cNvSpPr/>
          <p:nvPr/>
        </p:nvSpPr>
        <p:spPr>
          <a:xfrm>
            <a:off x="864037" y="2795588"/>
            <a:ext cx="6859905" cy="771525"/>
          </a:xfrm>
          <a:prstGeom prst="rect">
            <a:avLst/>
          </a:prstGeom>
          <a:noFill/>
          <a:ln/>
        </p:spPr>
        <p:txBody>
          <a:bodyPr wrap="none" rtlCol="0" anchor="t"/>
          <a:lstStyle/>
          <a:p>
            <a:pPr marL="0" indent="0">
              <a:lnSpc>
                <a:spcPts val="6075"/>
              </a:lnSpc>
              <a:buNone/>
            </a:pPr>
            <a:r>
              <a:rPr lang="en-US" sz="4860" b="1" dirty="0">
                <a:solidFill>
                  <a:srgbClr val="5B5F72"/>
                </a:solidFill>
                <a:latin typeface="Instrument Sans" pitchFamily="34" charset="0"/>
                <a:ea typeface="Instrument Sans" pitchFamily="34" charset="-122"/>
                <a:cs typeface="Instrument Sans" pitchFamily="34" charset="-120"/>
              </a:rPr>
              <a:t>Software Requirements</a:t>
            </a:r>
            <a:endParaRPr lang="en-US" sz="4860" dirty="0"/>
          </a:p>
        </p:txBody>
      </p:sp>
      <p:sp>
        <p:nvSpPr>
          <p:cNvPr id="5" name="Text 2"/>
          <p:cNvSpPr/>
          <p:nvPr/>
        </p:nvSpPr>
        <p:spPr>
          <a:xfrm>
            <a:off x="864037" y="4184213"/>
            <a:ext cx="2773918" cy="385763"/>
          </a:xfrm>
          <a:prstGeom prst="rect">
            <a:avLst/>
          </a:prstGeom>
          <a:noFill/>
          <a:ln/>
        </p:spPr>
        <p:txBody>
          <a:bodyPr wrap="none" rtlCol="0" anchor="t"/>
          <a:lstStyle/>
          <a:p>
            <a:pPr marL="0" indent="0">
              <a:lnSpc>
                <a:spcPts val="3038"/>
              </a:lnSpc>
              <a:buNone/>
            </a:pPr>
            <a:r>
              <a:rPr lang="en-US" sz="2430" b="1" dirty="0">
                <a:solidFill>
                  <a:srgbClr val="5B5F72"/>
                </a:solidFill>
                <a:latin typeface="Instrument Sans" pitchFamily="34" charset="0"/>
                <a:ea typeface="Instrument Sans" pitchFamily="34" charset="-122"/>
                <a:cs typeface="Instrument Sans" pitchFamily="34" charset="-120"/>
              </a:rPr>
              <a:t>Operating System</a:t>
            </a:r>
            <a:endParaRPr lang="en-US" sz="2430" dirty="0"/>
          </a:p>
        </p:txBody>
      </p:sp>
      <p:sp>
        <p:nvSpPr>
          <p:cNvPr id="6" name="Text 3"/>
          <p:cNvSpPr/>
          <p:nvPr/>
        </p:nvSpPr>
        <p:spPr>
          <a:xfrm>
            <a:off x="864037" y="4816793"/>
            <a:ext cx="2773918"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Windows 10</a:t>
            </a:r>
            <a:endParaRPr lang="en-US" sz="1944" dirty="0"/>
          </a:p>
        </p:txBody>
      </p:sp>
      <p:sp>
        <p:nvSpPr>
          <p:cNvPr id="7" name="Text 4"/>
          <p:cNvSpPr/>
          <p:nvPr/>
        </p:nvSpPr>
        <p:spPr>
          <a:xfrm>
            <a:off x="4247793" y="4184213"/>
            <a:ext cx="2773918" cy="385763"/>
          </a:xfrm>
          <a:prstGeom prst="rect">
            <a:avLst/>
          </a:prstGeom>
          <a:noFill/>
          <a:ln/>
        </p:spPr>
        <p:txBody>
          <a:bodyPr wrap="none" rtlCol="0" anchor="t"/>
          <a:lstStyle/>
          <a:p>
            <a:pPr marL="0" indent="0">
              <a:lnSpc>
                <a:spcPts val="3038"/>
              </a:lnSpc>
              <a:buNone/>
            </a:pPr>
            <a:r>
              <a:rPr lang="en-US" sz="2430" b="1" dirty="0">
                <a:solidFill>
                  <a:srgbClr val="5B5F72"/>
                </a:solidFill>
                <a:latin typeface="Instrument Sans" pitchFamily="34" charset="0"/>
                <a:ea typeface="Instrument Sans" pitchFamily="34" charset="-122"/>
                <a:cs typeface="Instrument Sans" pitchFamily="34" charset="-120"/>
              </a:rPr>
              <a:t>Application Server</a:t>
            </a:r>
            <a:endParaRPr lang="en-US" sz="2430" dirty="0"/>
          </a:p>
        </p:txBody>
      </p:sp>
      <p:sp>
        <p:nvSpPr>
          <p:cNvPr id="8" name="Text 5"/>
          <p:cNvSpPr/>
          <p:nvPr/>
        </p:nvSpPr>
        <p:spPr>
          <a:xfrm>
            <a:off x="4247793" y="4816793"/>
            <a:ext cx="2773918"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JAVA (NetBeans)</a:t>
            </a:r>
            <a:endParaRPr lang="en-US" sz="1944" dirty="0"/>
          </a:p>
        </p:txBody>
      </p:sp>
      <p:sp>
        <p:nvSpPr>
          <p:cNvPr id="9" name="Text 6"/>
          <p:cNvSpPr/>
          <p:nvPr/>
        </p:nvSpPr>
        <p:spPr>
          <a:xfrm>
            <a:off x="7631549" y="4184213"/>
            <a:ext cx="2773918" cy="385763"/>
          </a:xfrm>
          <a:prstGeom prst="rect">
            <a:avLst/>
          </a:prstGeom>
          <a:noFill/>
          <a:ln/>
        </p:spPr>
        <p:txBody>
          <a:bodyPr wrap="none" rtlCol="0" anchor="t"/>
          <a:lstStyle/>
          <a:p>
            <a:pPr marL="0" indent="0">
              <a:lnSpc>
                <a:spcPts val="3038"/>
              </a:lnSpc>
              <a:buNone/>
            </a:pPr>
            <a:r>
              <a:rPr lang="en-US" sz="2430" b="1" dirty="0">
                <a:solidFill>
                  <a:srgbClr val="5B5F72"/>
                </a:solidFill>
                <a:latin typeface="Instrument Sans" pitchFamily="34" charset="0"/>
                <a:ea typeface="Instrument Sans" pitchFamily="34" charset="-122"/>
                <a:cs typeface="Instrument Sans" pitchFamily="34" charset="-120"/>
              </a:rPr>
              <a:t>Front End</a:t>
            </a:r>
            <a:endParaRPr lang="en-US" sz="2430" dirty="0"/>
          </a:p>
        </p:txBody>
      </p:sp>
      <p:sp>
        <p:nvSpPr>
          <p:cNvPr id="10" name="Text 7"/>
          <p:cNvSpPr/>
          <p:nvPr/>
        </p:nvSpPr>
        <p:spPr>
          <a:xfrm>
            <a:off x="7631549" y="4816793"/>
            <a:ext cx="2773918"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JAVA</a:t>
            </a:r>
            <a:endParaRPr lang="en-US" sz="1944" dirty="0"/>
          </a:p>
        </p:txBody>
      </p:sp>
      <p:sp>
        <p:nvSpPr>
          <p:cNvPr id="11" name="Text 8"/>
          <p:cNvSpPr/>
          <p:nvPr/>
        </p:nvSpPr>
        <p:spPr>
          <a:xfrm>
            <a:off x="11015305" y="4184213"/>
            <a:ext cx="2773918" cy="385763"/>
          </a:xfrm>
          <a:prstGeom prst="rect">
            <a:avLst/>
          </a:prstGeom>
          <a:noFill/>
          <a:ln/>
        </p:spPr>
        <p:txBody>
          <a:bodyPr wrap="none" rtlCol="0" anchor="t"/>
          <a:lstStyle/>
          <a:p>
            <a:pPr marL="0" indent="0">
              <a:lnSpc>
                <a:spcPts val="3038"/>
              </a:lnSpc>
              <a:buNone/>
            </a:pPr>
            <a:r>
              <a:rPr lang="en-US" sz="2430" b="1" dirty="0">
                <a:solidFill>
                  <a:srgbClr val="5B5F72"/>
                </a:solidFill>
                <a:latin typeface="Instrument Sans" pitchFamily="34" charset="0"/>
                <a:ea typeface="Instrument Sans" pitchFamily="34" charset="-122"/>
                <a:cs typeface="Instrument Sans" pitchFamily="34" charset="-120"/>
              </a:rPr>
              <a:t>Connectivity</a:t>
            </a:r>
            <a:endParaRPr lang="en-US" sz="2430" dirty="0"/>
          </a:p>
        </p:txBody>
      </p:sp>
      <p:sp>
        <p:nvSpPr>
          <p:cNvPr id="12" name="Text 9"/>
          <p:cNvSpPr/>
          <p:nvPr/>
        </p:nvSpPr>
        <p:spPr>
          <a:xfrm>
            <a:off x="11015305" y="4816793"/>
            <a:ext cx="2773918" cy="395049"/>
          </a:xfrm>
          <a:prstGeom prst="rect">
            <a:avLst/>
          </a:prstGeom>
          <a:noFill/>
          <a:ln/>
        </p:spPr>
        <p:txBody>
          <a:bodyPr wrap="none" rtlCol="0" anchor="t"/>
          <a:lstStyle/>
          <a:p>
            <a:pPr marL="0" indent="0">
              <a:lnSpc>
                <a:spcPts val="3110"/>
              </a:lnSpc>
              <a:buNone/>
            </a:pPr>
            <a:r>
              <a:rPr lang="en-US" sz="1944" dirty="0">
                <a:solidFill>
                  <a:srgbClr val="5B5F71"/>
                </a:solidFill>
                <a:latin typeface="Instrument Sans" pitchFamily="34" charset="0"/>
                <a:ea typeface="Instrument Sans" pitchFamily="34" charset="-122"/>
                <a:cs typeface="Instrument Sans" pitchFamily="34" charset="-120"/>
              </a:rPr>
              <a:t>JDBC Driver</a:t>
            </a:r>
            <a:endParaRPr lang="en-US" sz="194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txBody>
          <a:bodyPr/>
          <a:lstStyle/>
          <a:p>
            <a:endParaRPr lang="en-IN"/>
          </a:p>
        </p:txBody>
      </p:sp>
      <p:sp>
        <p:nvSpPr>
          <p:cNvPr id="4" name="Text 1"/>
          <p:cNvSpPr/>
          <p:nvPr/>
        </p:nvSpPr>
        <p:spPr>
          <a:xfrm>
            <a:off x="1855946" y="553879"/>
            <a:ext cx="4996934" cy="624602"/>
          </a:xfrm>
          <a:prstGeom prst="rect">
            <a:avLst/>
          </a:prstGeom>
          <a:noFill/>
          <a:ln/>
        </p:spPr>
        <p:txBody>
          <a:bodyPr wrap="none" rtlCol="0" anchor="t"/>
          <a:lstStyle/>
          <a:p>
            <a:pPr marL="0" indent="0">
              <a:lnSpc>
                <a:spcPts val="4918"/>
              </a:lnSpc>
              <a:buNone/>
            </a:pPr>
            <a:r>
              <a:rPr lang="en-US" sz="3935" b="1" dirty="0">
                <a:solidFill>
                  <a:srgbClr val="5B5F72"/>
                </a:solidFill>
                <a:latin typeface="Instrument Sans" pitchFamily="34" charset="0"/>
                <a:ea typeface="Instrument Sans" pitchFamily="34" charset="-122"/>
                <a:cs typeface="Instrument Sans" pitchFamily="34" charset="-120"/>
              </a:rPr>
              <a:t>Front End: Java</a:t>
            </a:r>
            <a:endParaRPr lang="en-US" sz="3935" dirty="0"/>
          </a:p>
        </p:txBody>
      </p:sp>
      <p:sp>
        <p:nvSpPr>
          <p:cNvPr id="5" name="Text 2"/>
          <p:cNvSpPr/>
          <p:nvPr/>
        </p:nvSpPr>
        <p:spPr>
          <a:xfrm>
            <a:off x="1855946" y="1578173"/>
            <a:ext cx="10918388" cy="1279208"/>
          </a:xfrm>
          <a:prstGeom prst="rect">
            <a:avLst/>
          </a:prstGeom>
          <a:noFill/>
          <a:ln/>
        </p:spPr>
        <p:txBody>
          <a:bodyPr wrap="square" rtlCol="0" anchor="t"/>
          <a:lstStyle/>
          <a:p>
            <a:pPr marL="0" indent="0">
              <a:lnSpc>
                <a:spcPts val="2518"/>
              </a:lnSpc>
              <a:buNone/>
            </a:pPr>
            <a:r>
              <a:rPr lang="en-US" sz="1574" dirty="0">
                <a:solidFill>
                  <a:srgbClr val="5B5F71"/>
                </a:solidFill>
                <a:latin typeface="Instrument Sans" pitchFamily="34" charset="0"/>
                <a:ea typeface="Instrument Sans" pitchFamily="34" charset="-122"/>
                <a:cs typeface="Instrument Sans" pitchFamily="34" charset="-120"/>
              </a:rPr>
              <a:t>Java is a general-purpose, class-based, object-oriented programming language designed for having lesser implementation dependencies. It is a computing platform for application development. Java is fast, secure, and reliable, therefore. It is widely used for developing Java applications in laptops, data centers, game consoles, scientific supercomputers, cell phones, etc. Here are some important Java applications:</a:t>
            </a:r>
            <a:endParaRPr lang="en-US" sz="1574" dirty="0"/>
          </a:p>
        </p:txBody>
      </p:sp>
      <p:sp>
        <p:nvSpPr>
          <p:cNvPr id="6" name="Shape 3"/>
          <p:cNvSpPr/>
          <p:nvPr/>
        </p:nvSpPr>
        <p:spPr>
          <a:xfrm>
            <a:off x="1855946" y="3306961"/>
            <a:ext cx="449699" cy="449699"/>
          </a:xfrm>
          <a:prstGeom prst="roundRect">
            <a:avLst>
              <a:gd name="adj" fmla="val 18668"/>
            </a:avLst>
          </a:prstGeom>
          <a:solidFill>
            <a:srgbClr val="E3E4E8"/>
          </a:solidFill>
          <a:ln w="7620">
            <a:solidFill>
              <a:srgbClr val="C9CACE"/>
            </a:solidFill>
            <a:prstDash val="solid"/>
          </a:ln>
        </p:spPr>
        <p:txBody>
          <a:bodyPr/>
          <a:lstStyle/>
          <a:p>
            <a:endParaRPr lang="en-IN"/>
          </a:p>
        </p:txBody>
      </p:sp>
      <p:sp>
        <p:nvSpPr>
          <p:cNvPr id="7" name="Text 4"/>
          <p:cNvSpPr/>
          <p:nvPr/>
        </p:nvSpPr>
        <p:spPr>
          <a:xfrm>
            <a:off x="2022753" y="3381851"/>
            <a:ext cx="116086" cy="299799"/>
          </a:xfrm>
          <a:prstGeom prst="rect">
            <a:avLst/>
          </a:prstGeom>
          <a:noFill/>
          <a:ln/>
        </p:spPr>
        <p:txBody>
          <a:bodyPr wrap="none" rtlCol="0" anchor="t"/>
          <a:lstStyle/>
          <a:p>
            <a:pPr marL="0" indent="0" algn="ctr">
              <a:lnSpc>
                <a:spcPts val="2361"/>
              </a:lnSpc>
              <a:buNone/>
            </a:pPr>
            <a:r>
              <a:rPr lang="en-US" sz="2361" b="1" dirty="0">
                <a:solidFill>
                  <a:srgbClr val="5B5F71"/>
                </a:solidFill>
                <a:latin typeface="Instrument Sans" pitchFamily="34" charset="0"/>
                <a:ea typeface="Instrument Sans" pitchFamily="34" charset="-122"/>
                <a:cs typeface="Instrument Sans" pitchFamily="34" charset="-120"/>
              </a:rPr>
              <a:t>1</a:t>
            </a:r>
            <a:endParaRPr lang="en-US" sz="2361" dirty="0"/>
          </a:p>
        </p:txBody>
      </p:sp>
      <p:sp>
        <p:nvSpPr>
          <p:cNvPr id="8" name="Text 5"/>
          <p:cNvSpPr/>
          <p:nvPr/>
        </p:nvSpPr>
        <p:spPr>
          <a:xfrm>
            <a:off x="2505432" y="3306961"/>
            <a:ext cx="2498408" cy="312182"/>
          </a:xfrm>
          <a:prstGeom prst="rect">
            <a:avLst/>
          </a:prstGeom>
          <a:noFill/>
          <a:ln/>
        </p:spPr>
        <p:txBody>
          <a:bodyPr wrap="none" rtlCol="0" anchor="t"/>
          <a:lstStyle/>
          <a:p>
            <a:pPr marL="0" indent="0">
              <a:lnSpc>
                <a:spcPts val="2459"/>
              </a:lnSpc>
              <a:buNone/>
            </a:pPr>
            <a:r>
              <a:rPr lang="en-US" sz="1967" b="1" dirty="0">
                <a:solidFill>
                  <a:srgbClr val="5B5F71"/>
                </a:solidFill>
                <a:latin typeface="Instrument Sans" pitchFamily="34" charset="0"/>
                <a:ea typeface="Instrument Sans" pitchFamily="34" charset="-122"/>
                <a:cs typeface="Instrument Sans" pitchFamily="34" charset="-120"/>
              </a:rPr>
              <a:t>Android Apps</a:t>
            </a:r>
            <a:endParaRPr lang="en-US" sz="1967" dirty="0"/>
          </a:p>
        </p:txBody>
      </p:sp>
      <p:sp>
        <p:nvSpPr>
          <p:cNvPr id="9" name="Text 6"/>
          <p:cNvSpPr/>
          <p:nvPr/>
        </p:nvSpPr>
        <p:spPr>
          <a:xfrm>
            <a:off x="2505432" y="3739039"/>
            <a:ext cx="2856786" cy="639604"/>
          </a:xfrm>
          <a:prstGeom prst="rect">
            <a:avLst/>
          </a:prstGeom>
          <a:noFill/>
          <a:ln/>
        </p:spPr>
        <p:txBody>
          <a:bodyPr wrap="square" rtlCol="0" anchor="t"/>
          <a:lstStyle/>
          <a:p>
            <a:pPr marL="0" indent="0">
              <a:lnSpc>
                <a:spcPts val="2518"/>
              </a:lnSpc>
              <a:buNone/>
            </a:pPr>
            <a:r>
              <a:rPr lang="en-US" sz="1574" dirty="0">
                <a:solidFill>
                  <a:srgbClr val="5B5F71"/>
                </a:solidFill>
                <a:latin typeface="Instrument Sans" pitchFamily="34" charset="0"/>
                <a:ea typeface="Instrument Sans" pitchFamily="34" charset="-122"/>
                <a:cs typeface="Instrument Sans" pitchFamily="34" charset="-120"/>
              </a:rPr>
              <a:t>Java is used for developing Android Apps.</a:t>
            </a:r>
            <a:endParaRPr lang="en-US" sz="1574" dirty="0"/>
          </a:p>
        </p:txBody>
      </p:sp>
      <p:sp>
        <p:nvSpPr>
          <p:cNvPr id="10" name="Shape 7"/>
          <p:cNvSpPr/>
          <p:nvPr/>
        </p:nvSpPr>
        <p:spPr>
          <a:xfrm>
            <a:off x="5562005" y="3306961"/>
            <a:ext cx="449699" cy="449699"/>
          </a:xfrm>
          <a:prstGeom prst="roundRect">
            <a:avLst>
              <a:gd name="adj" fmla="val 18668"/>
            </a:avLst>
          </a:prstGeom>
          <a:solidFill>
            <a:srgbClr val="E3E4E8"/>
          </a:solidFill>
          <a:ln w="7620">
            <a:solidFill>
              <a:srgbClr val="C9CACE"/>
            </a:solidFill>
            <a:prstDash val="solid"/>
          </a:ln>
        </p:spPr>
        <p:txBody>
          <a:bodyPr/>
          <a:lstStyle/>
          <a:p>
            <a:endParaRPr lang="en-IN"/>
          </a:p>
        </p:txBody>
      </p:sp>
      <p:sp>
        <p:nvSpPr>
          <p:cNvPr id="11" name="Text 8"/>
          <p:cNvSpPr/>
          <p:nvPr/>
        </p:nvSpPr>
        <p:spPr>
          <a:xfrm>
            <a:off x="5703332" y="3381851"/>
            <a:ext cx="166926" cy="299799"/>
          </a:xfrm>
          <a:prstGeom prst="rect">
            <a:avLst/>
          </a:prstGeom>
          <a:noFill/>
          <a:ln/>
        </p:spPr>
        <p:txBody>
          <a:bodyPr wrap="none" rtlCol="0" anchor="t"/>
          <a:lstStyle/>
          <a:p>
            <a:pPr marL="0" indent="0" algn="ctr">
              <a:lnSpc>
                <a:spcPts val="2361"/>
              </a:lnSpc>
              <a:buNone/>
            </a:pPr>
            <a:r>
              <a:rPr lang="en-US" sz="2361" b="1" dirty="0">
                <a:solidFill>
                  <a:srgbClr val="5B5F71"/>
                </a:solidFill>
                <a:latin typeface="Instrument Sans" pitchFamily="34" charset="0"/>
                <a:ea typeface="Instrument Sans" pitchFamily="34" charset="-122"/>
                <a:cs typeface="Instrument Sans" pitchFamily="34" charset="-120"/>
              </a:rPr>
              <a:t>2</a:t>
            </a:r>
            <a:endParaRPr lang="en-US" sz="2361" dirty="0"/>
          </a:p>
        </p:txBody>
      </p:sp>
      <p:sp>
        <p:nvSpPr>
          <p:cNvPr id="12" name="Text 9"/>
          <p:cNvSpPr/>
          <p:nvPr/>
        </p:nvSpPr>
        <p:spPr>
          <a:xfrm>
            <a:off x="6211491" y="3306961"/>
            <a:ext cx="2498408" cy="312182"/>
          </a:xfrm>
          <a:prstGeom prst="rect">
            <a:avLst/>
          </a:prstGeom>
          <a:noFill/>
          <a:ln/>
        </p:spPr>
        <p:txBody>
          <a:bodyPr wrap="none" rtlCol="0" anchor="t"/>
          <a:lstStyle/>
          <a:p>
            <a:pPr marL="0" indent="0">
              <a:lnSpc>
                <a:spcPts val="2459"/>
              </a:lnSpc>
              <a:buNone/>
            </a:pPr>
            <a:r>
              <a:rPr lang="en-US" sz="1967" b="1" dirty="0">
                <a:solidFill>
                  <a:srgbClr val="5B5F71"/>
                </a:solidFill>
                <a:latin typeface="Instrument Sans" pitchFamily="34" charset="0"/>
                <a:ea typeface="Instrument Sans" pitchFamily="34" charset="-122"/>
                <a:cs typeface="Instrument Sans" pitchFamily="34" charset="-120"/>
              </a:rPr>
              <a:t>Enterprise Software</a:t>
            </a:r>
            <a:endParaRPr lang="en-US" sz="1967" dirty="0"/>
          </a:p>
        </p:txBody>
      </p:sp>
      <p:sp>
        <p:nvSpPr>
          <p:cNvPr id="13" name="Text 10"/>
          <p:cNvSpPr/>
          <p:nvPr/>
        </p:nvSpPr>
        <p:spPr>
          <a:xfrm>
            <a:off x="6211491" y="3739039"/>
            <a:ext cx="2856786" cy="639604"/>
          </a:xfrm>
          <a:prstGeom prst="rect">
            <a:avLst/>
          </a:prstGeom>
          <a:noFill/>
          <a:ln/>
        </p:spPr>
        <p:txBody>
          <a:bodyPr wrap="square" rtlCol="0" anchor="t"/>
          <a:lstStyle/>
          <a:p>
            <a:pPr marL="0" indent="0">
              <a:lnSpc>
                <a:spcPts val="2518"/>
              </a:lnSpc>
              <a:buNone/>
            </a:pPr>
            <a:r>
              <a:rPr lang="en-US" sz="1574" dirty="0">
                <a:solidFill>
                  <a:srgbClr val="5B5F71"/>
                </a:solidFill>
                <a:latin typeface="Instrument Sans" pitchFamily="34" charset="0"/>
                <a:ea typeface="Instrument Sans" pitchFamily="34" charset="-122"/>
                <a:cs typeface="Instrument Sans" pitchFamily="34" charset="-120"/>
              </a:rPr>
              <a:t>Java helps you to create Enterprise Software.</a:t>
            </a:r>
            <a:endParaRPr lang="en-US" sz="1574" dirty="0"/>
          </a:p>
        </p:txBody>
      </p:sp>
      <p:sp>
        <p:nvSpPr>
          <p:cNvPr id="14" name="Shape 11"/>
          <p:cNvSpPr/>
          <p:nvPr/>
        </p:nvSpPr>
        <p:spPr>
          <a:xfrm>
            <a:off x="9268063" y="3306961"/>
            <a:ext cx="449699" cy="449699"/>
          </a:xfrm>
          <a:prstGeom prst="roundRect">
            <a:avLst>
              <a:gd name="adj" fmla="val 18668"/>
            </a:avLst>
          </a:prstGeom>
          <a:solidFill>
            <a:srgbClr val="E3E4E8"/>
          </a:solidFill>
          <a:ln w="7620">
            <a:solidFill>
              <a:srgbClr val="C9CACE"/>
            </a:solidFill>
            <a:prstDash val="solid"/>
          </a:ln>
        </p:spPr>
        <p:txBody>
          <a:bodyPr/>
          <a:lstStyle/>
          <a:p>
            <a:endParaRPr lang="en-IN"/>
          </a:p>
        </p:txBody>
      </p:sp>
      <p:sp>
        <p:nvSpPr>
          <p:cNvPr id="15" name="Text 12"/>
          <p:cNvSpPr/>
          <p:nvPr/>
        </p:nvSpPr>
        <p:spPr>
          <a:xfrm>
            <a:off x="9406057" y="3381851"/>
            <a:ext cx="173593" cy="299799"/>
          </a:xfrm>
          <a:prstGeom prst="rect">
            <a:avLst/>
          </a:prstGeom>
          <a:noFill/>
          <a:ln/>
        </p:spPr>
        <p:txBody>
          <a:bodyPr wrap="none" rtlCol="0" anchor="t"/>
          <a:lstStyle/>
          <a:p>
            <a:pPr marL="0" indent="0" algn="ctr">
              <a:lnSpc>
                <a:spcPts val="2361"/>
              </a:lnSpc>
              <a:buNone/>
            </a:pPr>
            <a:r>
              <a:rPr lang="en-US" sz="2361" b="1" dirty="0">
                <a:solidFill>
                  <a:srgbClr val="5B5F71"/>
                </a:solidFill>
                <a:latin typeface="Instrument Sans" pitchFamily="34" charset="0"/>
                <a:ea typeface="Instrument Sans" pitchFamily="34" charset="-122"/>
                <a:cs typeface="Instrument Sans" pitchFamily="34" charset="-120"/>
              </a:rPr>
              <a:t>3</a:t>
            </a:r>
            <a:endParaRPr lang="en-US" sz="2361" dirty="0"/>
          </a:p>
        </p:txBody>
      </p:sp>
      <p:sp>
        <p:nvSpPr>
          <p:cNvPr id="16" name="Text 13"/>
          <p:cNvSpPr/>
          <p:nvPr/>
        </p:nvSpPr>
        <p:spPr>
          <a:xfrm>
            <a:off x="9917549" y="3306961"/>
            <a:ext cx="2856786" cy="624364"/>
          </a:xfrm>
          <a:prstGeom prst="rect">
            <a:avLst/>
          </a:prstGeom>
          <a:noFill/>
          <a:ln/>
        </p:spPr>
        <p:txBody>
          <a:bodyPr wrap="square" rtlCol="0" anchor="t"/>
          <a:lstStyle/>
          <a:p>
            <a:pPr marL="0" indent="0">
              <a:lnSpc>
                <a:spcPts val="2459"/>
              </a:lnSpc>
              <a:buNone/>
            </a:pPr>
            <a:r>
              <a:rPr lang="en-US" sz="1967" b="1" dirty="0">
                <a:solidFill>
                  <a:srgbClr val="5B5F71"/>
                </a:solidFill>
                <a:latin typeface="Instrument Sans" pitchFamily="34" charset="0"/>
                <a:ea typeface="Instrument Sans" pitchFamily="34" charset="-122"/>
                <a:cs typeface="Instrument Sans" pitchFamily="34" charset="-120"/>
              </a:rPr>
              <a:t>Mobile Java Applications</a:t>
            </a:r>
            <a:endParaRPr lang="en-US" sz="1967" dirty="0"/>
          </a:p>
        </p:txBody>
      </p:sp>
      <p:sp>
        <p:nvSpPr>
          <p:cNvPr id="17" name="Text 14"/>
          <p:cNvSpPr/>
          <p:nvPr/>
        </p:nvSpPr>
        <p:spPr>
          <a:xfrm>
            <a:off x="9917549" y="4051221"/>
            <a:ext cx="2856786" cy="639604"/>
          </a:xfrm>
          <a:prstGeom prst="rect">
            <a:avLst/>
          </a:prstGeom>
          <a:noFill/>
          <a:ln/>
        </p:spPr>
        <p:txBody>
          <a:bodyPr wrap="square" rtlCol="0" anchor="t"/>
          <a:lstStyle/>
          <a:p>
            <a:pPr marL="0" indent="0">
              <a:lnSpc>
                <a:spcPts val="2518"/>
              </a:lnSpc>
              <a:buNone/>
            </a:pPr>
            <a:r>
              <a:rPr lang="en-US" sz="1574" dirty="0">
                <a:solidFill>
                  <a:srgbClr val="5B5F71"/>
                </a:solidFill>
                <a:latin typeface="Instrument Sans" pitchFamily="34" charset="0"/>
                <a:ea typeface="Instrument Sans" pitchFamily="34" charset="-122"/>
                <a:cs typeface="Instrument Sans" pitchFamily="34" charset="-120"/>
              </a:rPr>
              <a:t>Java is used for a wide range of Mobile java Applications.</a:t>
            </a:r>
            <a:endParaRPr lang="en-US" sz="1574" dirty="0"/>
          </a:p>
        </p:txBody>
      </p:sp>
      <p:sp>
        <p:nvSpPr>
          <p:cNvPr id="18" name="Shape 15"/>
          <p:cNvSpPr/>
          <p:nvPr/>
        </p:nvSpPr>
        <p:spPr>
          <a:xfrm>
            <a:off x="1855946" y="5115401"/>
            <a:ext cx="449699" cy="449699"/>
          </a:xfrm>
          <a:prstGeom prst="roundRect">
            <a:avLst>
              <a:gd name="adj" fmla="val 18668"/>
            </a:avLst>
          </a:prstGeom>
          <a:solidFill>
            <a:srgbClr val="E3E4E8"/>
          </a:solidFill>
          <a:ln w="7620">
            <a:solidFill>
              <a:srgbClr val="C9CACE"/>
            </a:solidFill>
            <a:prstDash val="solid"/>
          </a:ln>
        </p:spPr>
        <p:txBody>
          <a:bodyPr/>
          <a:lstStyle/>
          <a:p>
            <a:endParaRPr lang="en-IN"/>
          </a:p>
        </p:txBody>
      </p:sp>
      <p:sp>
        <p:nvSpPr>
          <p:cNvPr id="19" name="Text 16"/>
          <p:cNvSpPr/>
          <p:nvPr/>
        </p:nvSpPr>
        <p:spPr>
          <a:xfrm>
            <a:off x="1988582" y="5190292"/>
            <a:ext cx="184309" cy="299799"/>
          </a:xfrm>
          <a:prstGeom prst="rect">
            <a:avLst/>
          </a:prstGeom>
          <a:noFill/>
          <a:ln/>
        </p:spPr>
        <p:txBody>
          <a:bodyPr wrap="none" rtlCol="0" anchor="t"/>
          <a:lstStyle/>
          <a:p>
            <a:pPr marL="0" indent="0" algn="ctr">
              <a:lnSpc>
                <a:spcPts val="2361"/>
              </a:lnSpc>
              <a:buNone/>
            </a:pPr>
            <a:r>
              <a:rPr lang="en-US" sz="2361" b="1" dirty="0">
                <a:solidFill>
                  <a:srgbClr val="5B5F71"/>
                </a:solidFill>
                <a:latin typeface="Instrument Sans" pitchFamily="34" charset="0"/>
                <a:ea typeface="Instrument Sans" pitchFamily="34" charset="-122"/>
                <a:cs typeface="Instrument Sans" pitchFamily="34" charset="-120"/>
              </a:rPr>
              <a:t>4</a:t>
            </a:r>
            <a:endParaRPr lang="en-US" sz="2361" dirty="0"/>
          </a:p>
        </p:txBody>
      </p:sp>
      <p:sp>
        <p:nvSpPr>
          <p:cNvPr id="20" name="Text 17"/>
          <p:cNvSpPr/>
          <p:nvPr/>
        </p:nvSpPr>
        <p:spPr>
          <a:xfrm>
            <a:off x="2505432" y="5115401"/>
            <a:ext cx="2856786" cy="624364"/>
          </a:xfrm>
          <a:prstGeom prst="rect">
            <a:avLst/>
          </a:prstGeom>
          <a:noFill/>
          <a:ln/>
        </p:spPr>
        <p:txBody>
          <a:bodyPr wrap="square" rtlCol="0" anchor="t"/>
          <a:lstStyle/>
          <a:p>
            <a:pPr marL="0" indent="0">
              <a:lnSpc>
                <a:spcPts val="2459"/>
              </a:lnSpc>
              <a:buNone/>
            </a:pPr>
            <a:r>
              <a:rPr lang="en-US" sz="1967" b="1" dirty="0">
                <a:solidFill>
                  <a:srgbClr val="5B5F71"/>
                </a:solidFill>
                <a:latin typeface="Instrument Sans" pitchFamily="34" charset="0"/>
                <a:ea typeface="Instrument Sans" pitchFamily="34" charset="-122"/>
                <a:cs typeface="Instrument Sans" pitchFamily="34" charset="-120"/>
              </a:rPr>
              <a:t>Scientific Computing Applications</a:t>
            </a:r>
            <a:endParaRPr lang="en-US" sz="1967" dirty="0"/>
          </a:p>
        </p:txBody>
      </p:sp>
      <p:sp>
        <p:nvSpPr>
          <p:cNvPr id="21" name="Text 18"/>
          <p:cNvSpPr/>
          <p:nvPr/>
        </p:nvSpPr>
        <p:spPr>
          <a:xfrm>
            <a:off x="2505432" y="5859661"/>
            <a:ext cx="2856786" cy="639604"/>
          </a:xfrm>
          <a:prstGeom prst="rect">
            <a:avLst/>
          </a:prstGeom>
          <a:noFill/>
          <a:ln/>
        </p:spPr>
        <p:txBody>
          <a:bodyPr wrap="square" rtlCol="0" anchor="t"/>
          <a:lstStyle/>
          <a:p>
            <a:pPr marL="0" indent="0">
              <a:lnSpc>
                <a:spcPts val="2518"/>
              </a:lnSpc>
              <a:buNone/>
            </a:pPr>
            <a:r>
              <a:rPr lang="en-US" sz="1574" dirty="0">
                <a:solidFill>
                  <a:srgbClr val="5B5F71"/>
                </a:solidFill>
                <a:latin typeface="Instrument Sans" pitchFamily="34" charset="0"/>
                <a:ea typeface="Instrument Sans" pitchFamily="34" charset="-122"/>
                <a:cs typeface="Instrument Sans" pitchFamily="34" charset="-120"/>
              </a:rPr>
              <a:t>Java is used for Scientific Computing Applications.</a:t>
            </a:r>
            <a:endParaRPr lang="en-US" sz="1574" dirty="0"/>
          </a:p>
        </p:txBody>
      </p:sp>
      <p:sp>
        <p:nvSpPr>
          <p:cNvPr id="22" name="Shape 19"/>
          <p:cNvSpPr/>
          <p:nvPr/>
        </p:nvSpPr>
        <p:spPr>
          <a:xfrm>
            <a:off x="5562005" y="5115401"/>
            <a:ext cx="449699" cy="449699"/>
          </a:xfrm>
          <a:prstGeom prst="roundRect">
            <a:avLst>
              <a:gd name="adj" fmla="val 18668"/>
            </a:avLst>
          </a:prstGeom>
          <a:solidFill>
            <a:srgbClr val="E3E4E8"/>
          </a:solidFill>
          <a:ln w="7620">
            <a:solidFill>
              <a:srgbClr val="C9CACE"/>
            </a:solidFill>
            <a:prstDash val="solid"/>
          </a:ln>
        </p:spPr>
        <p:txBody>
          <a:bodyPr/>
          <a:lstStyle/>
          <a:p>
            <a:endParaRPr lang="en-IN"/>
          </a:p>
        </p:txBody>
      </p:sp>
      <p:sp>
        <p:nvSpPr>
          <p:cNvPr id="23" name="Text 20"/>
          <p:cNvSpPr/>
          <p:nvPr/>
        </p:nvSpPr>
        <p:spPr>
          <a:xfrm>
            <a:off x="5699760" y="5190292"/>
            <a:ext cx="174188" cy="299799"/>
          </a:xfrm>
          <a:prstGeom prst="rect">
            <a:avLst/>
          </a:prstGeom>
          <a:noFill/>
          <a:ln/>
        </p:spPr>
        <p:txBody>
          <a:bodyPr wrap="none" rtlCol="0" anchor="t"/>
          <a:lstStyle/>
          <a:p>
            <a:pPr marL="0" indent="0" algn="ctr">
              <a:lnSpc>
                <a:spcPts val="2361"/>
              </a:lnSpc>
              <a:buNone/>
            </a:pPr>
            <a:r>
              <a:rPr lang="en-US" sz="2361" b="1" dirty="0">
                <a:solidFill>
                  <a:srgbClr val="5B5F71"/>
                </a:solidFill>
                <a:latin typeface="Instrument Sans" pitchFamily="34" charset="0"/>
                <a:ea typeface="Instrument Sans" pitchFamily="34" charset="-122"/>
                <a:cs typeface="Instrument Sans" pitchFamily="34" charset="-120"/>
              </a:rPr>
              <a:t>5</a:t>
            </a:r>
            <a:endParaRPr lang="en-US" sz="2361" dirty="0"/>
          </a:p>
        </p:txBody>
      </p:sp>
      <p:sp>
        <p:nvSpPr>
          <p:cNvPr id="24" name="Text 21"/>
          <p:cNvSpPr/>
          <p:nvPr/>
        </p:nvSpPr>
        <p:spPr>
          <a:xfrm>
            <a:off x="6211491" y="5115401"/>
            <a:ext cx="2498408" cy="312182"/>
          </a:xfrm>
          <a:prstGeom prst="rect">
            <a:avLst/>
          </a:prstGeom>
          <a:noFill/>
          <a:ln/>
        </p:spPr>
        <p:txBody>
          <a:bodyPr wrap="none" rtlCol="0" anchor="t"/>
          <a:lstStyle/>
          <a:p>
            <a:pPr marL="0" indent="0">
              <a:lnSpc>
                <a:spcPts val="2459"/>
              </a:lnSpc>
              <a:buNone/>
            </a:pPr>
            <a:r>
              <a:rPr lang="en-US" sz="1967" b="1" dirty="0">
                <a:solidFill>
                  <a:srgbClr val="5B5F71"/>
                </a:solidFill>
                <a:latin typeface="Instrument Sans" pitchFamily="34" charset="0"/>
                <a:ea typeface="Instrument Sans" pitchFamily="34" charset="-122"/>
                <a:cs typeface="Instrument Sans" pitchFamily="34" charset="-120"/>
              </a:rPr>
              <a:t>Big Data Analytics</a:t>
            </a:r>
            <a:endParaRPr lang="en-US" sz="1967" dirty="0"/>
          </a:p>
        </p:txBody>
      </p:sp>
      <p:sp>
        <p:nvSpPr>
          <p:cNvPr id="25" name="Text 22"/>
          <p:cNvSpPr/>
          <p:nvPr/>
        </p:nvSpPr>
        <p:spPr>
          <a:xfrm>
            <a:off x="6211491" y="5547479"/>
            <a:ext cx="2856786" cy="639604"/>
          </a:xfrm>
          <a:prstGeom prst="rect">
            <a:avLst/>
          </a:prstGeom>
          <a:noFill/>
          <a:ln/>
        </p:spPr>
        <p:txBody>
          <a:bodyPr wrap="square" rtlCol="0" anchor="t"/>
          <a:lstStyle/>
          <a:p>
            <a:pPr marL="0" indent="0">
              <a:lnSpc>
                <a:spcPts val="2518"/>
              </a:lnSpc>
              <a:buNone/>
            </a:pPr>
            <a:r>
              <a:rPr lang="en-US" sz="1574" dirty="0">
                <a:solidFill>
                  <a:srgbClr val="5B5F71"/>
                </a:solidFill>
                <a:latin typeface="Instrument Sans" pitchFamily="34" charset="0"/>
                <a:ea typeface="Instrument Sans" pitchFamily="34" charset="-122"/>
                <a:cs typeface="Instrument Sans" pitchFamily="34" charset="-120"/>
              </a:rPr>
              <a:t>Java is used for Big Data Analytics.</a:t>
            </a:r>
            <a:endParaRPr lang="en-US" sz="1574" dirty="0"/>
          </a:p>
        </p:txBody>
      </p:sp>
      <p:sp>
        <p:nvSpPr>
          <p:cNvPr id="26" name="Shape 23"/>
          <p:cNvSpPr/>
          <p:nvPr/>
        </p:nvSpPr>
        <p:spPr>
          <a:xfrm>
            <a:off x="9268063" y="5115401"/>
            <a:ext cx="449699" cy="449699"/>
          </a:xfrm>
          <a:prstGeom prst="roundRect">
            <a:avLst>
              <a:gd name="adj" fmla="val 18668"/>
            </a:avLst>
          </a:prstGeom>
          <a:solidFill>
            <a:srgbClr val="E3E4E8"/>
          </a:solidFill>
          <a:ln w="7620">
            <a:solidFill>
              <a:srgbClr val="C9CACE"/>
            </a:solidFill>
            <a:prstDash val="solid"/>
          </a:ln>
        </p:spPr>
        <p:txBody>
          <a:bodyPr/>
          <a:lstStyle/>
          <a:p>
            <a:endParaRPr lang="en-IN"/>
          </a:p>
        </p:txBody>
      </p:sp>
      <p:sp>
        <p:nvSpPr>
          <p:cNvPr id="27" name="Text 24"/>
          <p:cNvSpPr/>
          <p:nvPr/>
        </p:nvSpPr>
        <p:spPr>
          <a:xfrm>
            <a:off x="9400699" y="5190292"/>
            <a:ext cx="184309" cy="299799"/>
          </a:xfrm>
          <a:prstGeom prst="rect">
            <a:avLst/>
          </a:prstGeom>
          <a:noFill/>
          <a:ln/>
        </p:spPr>
        <p:txBody>
          <a:bodyPr wrap="none" rtlCol="0" anchor="t"/>
          <a:lstStyle/>
          <a:p>
            <a:pPr marL="0" indent="0" algn="ctr">
              <a:lnSpc>
                <a:spcPts val="2361"/>
              </a:lnSpc>
              <a:buNone/>
            </a:pPr>
            <a:r>
              <a:rPr lang="en-US" sz="2361" b="1" dirty="0">
                <a:solidFill>
                  <a:srgbClr val="5B5F71"/>
                </a:solidFill>
                <a:latin typeface="Instrument Sans" pitchFamily="34" charset="0"/>
                <a:ea typeface="Instrument Sans" pitchFamily="34" charset="-122"/>
                <a:cs typeface="Instrument Sans" pitchFamily="34" charset="-120"/>
              </a:rPr>
              <a:t>6</a:t>
            </a:r>
            <a:endParaRPr lang="en-US" sz="2361" dirty="0"/>
          </a:p>
        </p:txBody>
      </p:sp>
      <p:sp>
        <p:nvSpPr>
          <p:cNvPr id="28" name="Text 25"/>
          <p:cNvSpPr/>
          <p:nvPr/>
        </p:nvSpPr>
        <p:spPr>
          <a:xfrm>
            <a:off x="9917549" y="5115401"/>
            <a:ext cx="2498408" cy="312182"/>
          </a:xfrm>
          <a:prstGeom prst="rect">
            <a:avLst/>
          </a:prstGeom>
          <a:noFill/>
          <a:ln/>
        </p:spPr>
        <p:txBody>
          <a:bodyPr wrap="none" rtlCol="0" anchor="t"/>
          <a:lstStyle/>
          <a:p>
            <a:pPr marL="0" indent="0">
              <a:lnSpc>
                <a:spcPts val="2459"/>
              </a:lnSpc>
              <a:buNone/>
            </a:pPr>
            <a:r>
              <a:rPr lang="en-US" sz="1967" b="1" dirty="0">
                <a:solidFill>
                  <a:srgbClr val="5B5F71"/>
                </a:solidFill>
                <a:latin typeface="Instrument Sans" pitchFamily="34" charset="0"/>
                <a:ea typeface="Instrument Sans" pitchFamily="34" charset="-122"/>
                <a:cs typeface="Instrument Sans" pitchFamily="34" charset="-120"/>
              </a:rPr>
              <a:t>Hardware Devices</a:t>
            </a:r>
            <a:endParaRPr lang="en-US" sz="1967" dirty="0"/>
          </a:p>
        </p:txBody>
      </p:sp>
      <p:sp>
        <p:nvSpPr>
          <p:cNvPr id="29" name="Text 26"/>
          <p:cNvSpPr/>
          <p:nvPr/>
        </p:nvSpPr>
        <p:spPr>
          <a:xfrm>
            <a:off x="9917549" y="5547479"/>
            <a:ext cx="2856786" cy="639604"/>
          </a:xfrm>
          <a:prstGeom prst="rect">
            <a:avLst/>
          </a:prstGeom>
          <a:noFill/>
          <a:ln/>
        </p:spPr>
        <p:txBody>
          <a:bodyPr wrap="square" rtlCol="0" anchor="t"/>
          <a:lstStyle/>
          <a:p>
            <a:pPr marL="0" indent="0">
              <a:lnSpc>
                <a:spcPts val="2518"/>
              </a:lnSpc>
              <a:buNone/>
            </a:pPr>
            <a:r>
              <a:rPr lang="en-US" sz="1574" dirty="0">
                <a:solidFill>
                  <a:srgbClr val="5B5F71"/>
                </a:solidFill>
                <a:latin typeface="Instrument Sans" pitchFamily="34" charset="0"/>
                <a:ea typeface="Instrument Sans" pitchFamily="34" charset="-122"/>
                <a:cs typeface="Instrument Sans" pitchFamily="34" charset="-120"/>
              </a:rPr>
              <a:t>Java is used for Programming of Hardware devices.</a:t>
            </a:r>
            <a:endParaRPr lang="en-US" sz="1574" dirty="0"/>
          </a:p>
        </p:txBody>
      </p:sp>
      <p:sp>
        <p:nvSpPr>
          <p:cNvPr id="30" name="Shape 27"/>
          <p:cNvSpPr/>
          <p:nvPr/>
        </p:nvSpPr>
        <p:spPr>
          <a:xfrm>
            <a:off x="1855946" y="6923842"/>
            <a:ext cx="449699" cy="449699"/>
          </a:xfrm>
          <a:prstGeom prst="roundRect">
            <a:avLst>
              <a:gd name="adj" fmla="val 18668"/>
            </a:avLst>
          </a:prstGeom>
          <a:solidFill>
            <a:srgbClr val="E3E4E8"/>
          </a:solidFill>
          <a:ln w="7620">
            <a:solidFill>
              <a:srgbClr val="C9CACE"/>
            </a:solidFill>
            <a:prstDash val="solid"/>
          </a:ln>
        </p:spPr>
        <p:txBody>
          <a:bodyPr/>
          <a:lstStyle/>
          <a:p>
            <a:endParaRPr lang="en-IN"/>
          </a:p>
        </p:txBody>
      </p:sp>
      <p:sp>
        <p:nvSpPr>
          <p:cNvPr id="31" name="Text 28"/>
          <p:cNvSpPr/>
          <p:nvPr/>
        </p:nvSpPr>
        <p:spPr>
          <a:xfrm>
            <a:off x="1996678" y="6998732"/>
            <a:ext cx="168235" cy="299799"/>
          </a:xfrm>
          <a:prstGeom prst="rect">
            <a:avLst/>
          </a:prstGeom>
          <a:noFill/>
          <a:ln/>
        </p:spPr>
        <p:txBody>
          <a:bodyPr wrap="none" rtlCol="0" anchor="t"/>
          <a:lstStyle/>
          <a:p>
            <a:pPr marL="0" indent="0" algn="ctr">
              <a:lnSpc>
                <a:spcPts val="2361"/>
              </a:lnSpc>
              <a:buNone/>
            </a:pPr>
            <a:r>
              <a:rPr lang="en-US" sz="2361" b="1" dirty="0">
                <a:solidFill>
                  <a:srgbClr val="5B5F71"/>
                </a:solidFill>
                <a:latin typeface="Instrument Sans" pitchFamily="34" charset="0"/>
                <a:ea typeface="Instrument Sans" pitchFamily="34" charset="-122"/>
                <a:cs typeface="Instrument Sans" pitchFamily="34" charset="-120"/>
              </a:rPr>
              <a:t>7</a:t>
            </a:r>
            <a:endParaRPr lang="en-US" sz="2361" dirty="0"/>
          </a:p>
        </p:txBody>
      </p:sp>
      <p:sp>
        <p:nvSpPr>
          <p:cNvPr id="32" name="Text 29"/>
          <p:cNvSpPr/>
          <p:nvPr/>
        </p:nvSpPr>
        <p:spPr>
          <a:xfrm>
            <a:off x="2505432" y="6923842"/>
            <a:ext cx="3011567" cy="312182"/>
          </a:xfrm>
          <a:prstGeom prst="rect">
            <a:avLst/>
          </a:prstGeom>
          <a:noFill/>
          <a:ln/>
        </p:spPr>
        <p:txBody>
          <a:bodyPr wrap="none" rtlCol="0" anchor="t"/>
          <a:lstStyle/>
          <a:p>
            <a:pPr marL="0" indent="0">
              <a:lnSpc>
                <a:spcPts val="2459"/>
              </a:lnSpc>
              <a:buNone/>
            </a:pPr>
            <a:r>
              <a:rPr lang="en-US" sz="1967" b="1" dirty="0">
                <a:solidFill>
                  <a:srgbClr val="5B5F71"/>
                </a:solidFill>
                <a:latin typeface="Instrument Sans" pitchFamily="34" charset="0"/>
                <a:ea typeface="Instrument Sans" pitchFamily="34" charset="-122"/>
                <a:cs typeface="Instrument Sans" pitchFamily="34" charset="-120"/>
              </a:rPr>
              <a:t>Server-Side Technologies</a:t>
            </a:r>
            <a:endParaRPr lang="en-US" sz="1967" dirty="0"/>
          </a:p>
        </p:txBody>
      </p:sp>
      <p:sp>
        <p:nvSpPr>
          <p:cNvPr id="33" name="Text 30"/>
          <p:cNvSpPr/>
          <p:nvPr/>
        </p:nvSpPr>
        <p:spPr>
          <a:xfrm>
            <a:off x="2505432" y="7355919"/>
            <a:ext cx="10268902" cy="319802"/>
          </a:xfrm>
          <a:prstGeom prst="rect">
            <a:avLst/>
          </a:prstGeom>
          <a:noFill/>
          <a:ln/>
        </p:spPr>
        <p:txBody>
          <a:bodyPr wrap="none" rtlCol="0" anchor="t"/>
          <a:lstStyle/>
          <a:p>
            <a:pPr marL="0" indent="0">
              <a:lnSpc>
                <a:spcPts val="2518"/>
              </a:lnSpc>
              <a:buNone/>
            </a:pPr>
            <a:r>
              <a:rPr lang="en-US" sz="1574" dirty="0">
                <a:solidFill>
                  <a:srgbClr val="5B5F71"/>
                </a:solidFill>
                <a:latin typeface="Instrument Sans" pitchFamily="34" charset="0"/>
                <a:ea typeface="Instrument Sans" pitchFamily="34" charset="-122"/>
                <a:cs typeface="Instrument Sans" pitchFamily="34" charset="-120"/>
              </a:rPr>
              <a:t>Java is used for Server-Side Technologies like Apache, JBoss, GlassFish, etc.</a:t>
            </a:r>
            <a:endParaRPr lang="en-US" sz="157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9604296"/>
          </a:xfrm>
          <a:prstGeom prst="rect">
            <a:avLst/>
          </a:prstGeom>
          <a:solidFill>
            <a:srgbClr val="FFFFFF">
              <a:alpha val="75000"/>
            </a:srgbClr>
          </a:solidFill>
          <a:ln/>
        </p:spPr>
        <p:txBody>
          <a:bodyPr/>
          <a:lstStyle/>
          <a:p>
            <a:endParaRPr lang="en-IN"/>
          </a:p>
        </p:txBody>
      </p:sp>
      <p:sp>
        <p:nvSpPr>
          <p:cNvPr id="4" name="Text 1"/>
          <p:cNvSpPr/>
          <p:nvPr/>
        </p:nvSpPr>
        <p:spPr>
          <a:xfrm>
            <a:off x="2594967" y="475178"/>
            <a:ext cx="4320540" cy="540068"/>
          </a:xfrm>
          <a:prstGeom prst="rect">
            <a:avLst/>
          </a:prstGeom>
          <a:noFill/>
          <a:ln/>
        </p:spPr>
        <p:txBody>
          <a:bodyPr wrap="none" rtlCol="0" anchor="t"/>
          <a:lstStyle/>
          <a:p>
            <a:pPr marL="0" indent="0">
              <a:lnSpc>
                <a:spcPts val="4253"/>
              </a:lnSpc>
              <a:buNone/>
            </a:pPr>
            <a:r>
              <a:rPr lang="en-US" sz="3402" b="1" dirty="0">
                <a:solidFill>
                  <a:srgbClr val="5B5F72"/>
                </a:solidFill>
                <a:latin typeface="Instrument Sans" pitchFamily="34" charset="0"/>
                <a:ea typeface="Instrument Sans" pitchFamily="34" charset="-122"/>
                <a:cs typeface="Instrument Sans" pitchFamily="34" charset="-120"/>
              </a:rPr>
              <a:t>Back End: SQL</a:t>
            </a:r>
            <a:endParaRPr lang="en-US" sz="3402" dirty="0"/>
          </a:p>
        </p:txBody>
      </p:sp>
      <p:sp>
        <p:nvSpPr>
          <p:cNvPr id="5" name="Text 2"/>
          <p:cNvSpPr/>
          <p:nvPr/>
        </p:nvSpPr>
        <p:spPr>
          <a:xfrm>
            <a:off x="2594967" y="1360884"/>
            <a:ext cx="9440347" cy="1659493"/>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SQL is Structured Query Language, which is a computer language for storing, manipulating and retrieving data stored in a relational database. SQL is the standard language for Relational Database System. All the Relational Database Management Systems (RDMS) like MySQL, MS Access, Oracle, Sybase, Informix, Postgres and SQL Server use SQL as their standard database language. MySQL is a fast, easy-to-use RDBMS being used for many small and big businesses. MySQL is developed, marketed and supported by MySQL AB, which is a Swedish company. MySQL is becoming so popular because of many good reasons.\[1\]</a:t>
            </a:r>
            <a:endParaRPr lang="en-US" sz="1361" dirty="0"/>
          </a:p>
        </p:txBody>
      </p:sp>
      <p:sp>
        <p:nvSpPr>
          <p:cNvPr id="6" name="Shape 3"/>
          <p:cNvSpPr/>
          <p:nvPr/>
        </p:nvSpPr>
        <p:spPr>
          <a:xfrm>
            <a:off x="2594967" y="3408998"/>
            <a:ext cx="388739" cy="388739"/>
          </a:xfrm>
          <a:prstGeom prst="roundRect">
            <a:avLst>
              <a:gd name="adj" fmla="val 18672"/>
            </a:avLst>
          </a:prstGeom>
          <a:solidFill>
            <a:srgbClr val="E3E4E8"/>
          </a:solidFill>
          <a:ln w="7620">
            <a:solidFill>
              <a:srgbClr val="C9CACE"/>
            </a:solidFill>
            <a:prstDash val="solid"/>
          </a:ln>
        </p:spPr>
        <p:txBody>
          <a:bodyPr/>
          <a:lstStyle/>
          <a:p>
            <a:endParaRPr lang="en-IN"/>
          </a:p>
        </p:txBody>
      </p:sp>
      <p:sp>
        <p:nvSpPr>
          <p:cNvPr id="7" name="Text 4"/>
          <p:cNvSpPr/>
          <p:nvPr/>
        </p:nvSpPr>
        <p:spPr>
          <a:xfrm>
            <a:off x="2739152" y="3473767"/>
            <a:ext cx="100370" cy="259199"/>
          </a:xfrm>
          <a:prstGeom prst="rect">
            <a:avLst/>
          </a:prstGeom>
          <a:noFill/>
          <a:ln/>
        </p:spPr>
        <p:txBody>
          <a:bodyPr wrap="none" rtlCol="0" anchor="t"/>
          <a:lstStyle/>
          <a:p>
            <a:pPr marL="0" indent="0" algn="ctr">
              <a:lnSpc>
                <a:spcPts val="2041"/>
              </a:lnSpc>
              <a:buNone/>
            </a:pPr>
            <a:r>
              <a:rPr lang="en-US" sz="2041" b="1" dirty="0">
                <a:solidFill>
                  <a:srgbClr val="5B5F71"/>
                </a:solidFill>
                <a:latin typeface="Instrument Sans" pitchFamily="34" charset="0"/>
                <a:ea typeface="Instrument Sans" pitchFamily="34" charset="-122"/>
                <a:cs typeface="Instrument Sans" pitchFamily="34" charset="-120"/>
              </a:rPr>
              <a:t>1</a:t>
            </a:r>
            <a:endParaRPr lang="en-US" sz="2041" dirty="0"/>
          </a:p>
        </p:txBody>
      </p:sp>
      <p:sp>
        <p:nvSpPr>
          <p:cNvPr id="8" name="Text 5"/>
          <p:cNvSpPr/>
          <p:nvPr/>
        </p:nvSpPr>
        <p:spPr>
          <a:xfrm>
            <a:off x="3156466" y="3408998"/>
            <a:ext cx="2160270" cy="269915"/>
          </a:xfrm>
          <a:prstGeom prst="rect">
            <a:avLst/>
          </a:prstGeom>
          <a:noFill/>
          <a:ln/>
        </p:spPr>
        <p:txBody>
          <a:bodyPr wrap="non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Open Source</a:t>
            </a:r>
            <a:endParaRPr lang="en-US" sz="1701" dirty="0"/>
          </a:p>
        </p:txBody>
      </p:sp>
      <p:sp>
        <p:nvSpPr>
          <p:cNvPr id="9" name="Text 6"/>
          <p:cNvSpPr/>
          <p:nvPr/>
        </p:nvSpPr>
        <p:spPr>
          <a:xfrm>
            <a:off x="3156466" y="3782497"/>
            <a:ext cx="2470071" cy="829747"/>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MySQL is released under an open-source license. So you have nothing to pay to use it.</a:t>
            </a:r>
            <a:endParaRPr lang="en-US" sz="1361" dirty="0"/>
          </a:p>
        </p:txBody>
      </p:sp>
      <p:sp>
        <p:nvSpPr>
          <p:cNvPr id="10" name="Shape 7"/>
          <p:cNvSpPr/>
          <p:nvPr/>
        </p:nvSpPr>
        <p:spPr>
          <a:xfrm>
            <a:off x="5799296" y="3408998"/>
            <a:ext cx="388739" cy="388739"/>
          </a:xfrm>
          <a:prstGeom prst="roundRect">
            <a:avLst>
              <a:gd name="adj" fmla="val 18672"/>
            </a:avLst>
          </a:prstGeom>
          <a:solidFill>
            <a:srgbClr val="E3E4E8"/>
          </a:solidFill>
          <a:ln w="7620">
            <a:solidFill>
              <a:srgbClr val="C9CACE"/>
            </a:solidFill>
            <a:prstDash val="solid"/>
          </a:ln>
        </p:spPr>
        <p:txBody>
          <a:bodyPr/>
          <a:lstStyle/>
          <a:p>
            <a:endParaRPr lang="en-IN"/>
          </a:p>
        </p:txBody>
      </p:sp>
      <p:sp>
        <p:nvSpPr>
          <p:cNvPr id="11" name="Text 8"/>
          <p:cNvSpPr/>
          <p:nvPr/>
        </p:nvSpPr>
        <p:spPr>
          <a:xfrm>
            <a:off x="5921454" y="3473767"/>
            <a:ext cx="144423" cy="259199"/>
          </a:xfrm>
          <a:prstGeom prst="rect">
            <a:avLst/>
          </a:prstGeom>
          <a:noFill/>
          <a:ln/>
        </p:spPr>
        <p:txBody>
          <a:bodyPr wrap="none" rtlCol="0" anchor="t"/>
          <a:lstStyle/>
          <a:p>
            <a:pPr marL="0" indent="0" algn="ctr">
              <a:lnSpc>
                <a:spcPts val="2041"/>
              </a:lnSpc>
              <a:buNone/>
            </a:pPr>
            <a:r>
              <a:rPr lang="en-US" sz="2041" b="1" dirty="0">
                <a:solidFill>
                  <a:srgbClr val="5B5F71"/>
                </a:solidFill>
                <a:latin typeface="Instrument Sans" pitchFamily="34" charset="0"/>
                <a:ea typeface="Instrument Sans" pitchFamily="34" charset="-122"/>
                <a:cs typeface="Instrument Sans" pitchFamily="34" charset="-120"/>
              </a:rPr>
              <a:t>2</a:t>
            </a:r>
            <a:endParaRPr lang="en-US" sz="2041" dirty="0"/>
          </a:p>
        </p:txBody>
      </p:sp>
      <p:sp>
        <p:nvSpPr>
          <p:cNvPr id="12" name="Text 9"/>
          <p:cNvSpPr/>
          <p:nvPr/>
        </p:nvSpPr>
        <p:spPr>
          <a:xfrm>
            <a:off x="6360795" y="3408998"/>
            <a:ext cx="2160270" cy="269915"/>
          </a:xfrm>
          <a:prstGeom prst="rect">
            <a:avLst/>
          </a:prstGeom>
          <a:noFill/>
          <a:ln/>
        </p:spPr>
        <p:txBody>
          <a:bodyPr wrap="non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Powerful</a:t>
            </a:r>
            <a:endParaRPr lang="en-US" sz="1701" dirty="0"/>
          </a:p>
        </p:txBody>
      </p:sp>
      <p:sp>
        <p:nvSpPr>
          <p:cNvPr id="13" name="Text 10"/>
          <p:cNvSpPr/>
          <p:nvPr/>
        </p:nvSpPr>
        <p:spPr>
          <a:xfrm>
            <a:off x="6360795" y="3782497"/>
            <a:ext cx="2470071" cy="1659493"/>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MySQL is a very powerful program in its own right. It handles a large subset of the functionality of the most expensive and powerful database packages.</a:t>
            </a:r>
            <a:endParaRPr lang="en-US" sz="1361" dirty="0"/>
          </a:p>
        </p:txBody>
      </p:sp>
      <p:sp>
        <p:nvSpPr>
          <p:cNvPr id="14" name="Shape 11"/>
          <p:cNvSpPr/>
          <p:nvPr/>
        </p:nvSpPr>
        <p:spPr>
          <a:xfrm>
            <a:off x="9003625" y="3408998"/>
            <a:ext cx="388739" cy="388739"/>
          </a:xfrm>
          <a:prstGeom prst="roundRect">
            <a:avLst>
              <a:gd name="adj" fmla="val 18672"/>
            </a:avLst>
          </a:prstGeom>
          <a:solidFill>
            <a:srgbClr val="E3E4E8"/>
          </a:solidFill>
          <a:ln w="7620">
            <a:solidFill>
              <a:srgbClr val="C9CACE"/>
            </a:solidFill>
            <a:prstDash val="solid"/>
          </a:ln>
        </p:spPr>
        <p:txBody>
          <a:bodyPr/>
          <a:lstStyle/>
          <a:p>
            <a:endParaRPr lang="en-IN"/>
          </a:p>
        </p:txBody>
      </p:sp>
      <p:sp>
        <p:nvSpPr>
          <p:cNvPr id="15" name="Text 12"/>
          <p:cNvSpPr/>
          <p:nvPr/>
        </p:nvSpPr>
        <p:spPr>
          <a:xfrm>
            <a:off x="9122926" y="3473767"/>
            <a:ext cx="150138" cy="259199"/>
          </a:xfrm>
          <a:prstGeom prst="rect">
            <a:avLst/>
          </a:prstGeom>
          <a:noFill/>
          <a:ln/>
        </p:spPr>
        <p:txBody>
          <a:bodyPr wrap="none" rtlCol="0" anchor="t"/>
          <a:lstStyle/>
          <a:p>
            <a:pPr marL="0" indent="0" algn="ctr">
              <a:lnSpc>
                <a:spcPts val="2041"/>
              </a:lnSpc>
              <a:buNone/>
            </a:pPr>
            <a:r>
              <a:rPr lang="en-US" sz="2041" b="1" dirty="0">
                <a:solidFill>
                  <a:srgbClr val="5B5F71"/>
                </a:solidFill>
                <a:latin typeface="Instrument Sans" pitchFamily="34" charset="0"/>
                <a:ea typeface="Instrument Sans" pitchFamily="34" charset="-122"/>
                <a:cs typeface="Instrument Sans" pitchFamily="34" charset="-120"/>
              </a:rPr>
              <a:t>3</a:t>
            </a:r>
            <a:endParaRPr lang="en-US" sz="2041" dirty="0"/>
          </a:p>
        </p:txBody>
      </p:sp>
      <p:sp>
        <p:nvSpPr>
          <p:cNvPr id="16" name="Text 13"/>
          <p:cNvSpPr/>
          <p:nvPr/>
        </p:nvSpPr>
        <p:spPr>
          <a:xfrm>
            <a:off x="9565124" y="3408998"/>
            <a:ext cx="2160270" cy="269915"/>
          </a:xfrm>
          <a:prstGeom prst="rect">
            <a:avLst/>
          </a:prstGeom>
          <a:noFill/>
          <a:ln/>
        </p:spPr>
        <p:txBody>
          <a:bodyPr wrap="non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Standard SQL</a:t>
            </a:r>
            <a:endParaRPr lang="en-US" sz="1701" dirty="0"/>
          </a:p>
        </p:txBody>
      </p:sp>
      <p:sp>
        <p:nvSpPr>
          <p:cNvPr id="17" name="Text 14"/>
          <p:cNvSpPr/>
          <p:nvPr/>
        </p:nvSpPr>
        <p:spPr>
          <a:xfrm>
            <a:off x="9565124" y="3782497"/>
            <a:ext cx="2470071" cy="829747"/>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MySQL uses a standard form of the well-known SQL data language.</a:t>
            </a:r>
            <a:endParaRPr lang="en-US" sz="1361" dirty="0"/>
          </a:p>
        </p:txBody>
      </p:sp>
      <p:sp>
        <p:nvSpPr>
          <p:cNvPr id="18" name="Shape 15"/>
          <p:cNvSpPr/>
          <p:nvPr/>
        </p:nvSpPr>
        <p:spPr>
          <a:xfrm>
            <a:off x="2594967" y="5809059"/>
            <a:ext cx="388739" cy="388739"/>
          </a:xfrm>
          <a:prstGeom prst="roundRect">
            <a:avLst>
              <a:gd name="adj" fmla="val 18672"/>
            </a:avLst>
          </a:prstGeom>
          <a:solidFill>
            <a:srgbClr val="E3E4E8"/>
          </a:solidFill>
          <a:ln w="7620">
            <a:solidFill>
              <a:srgbClr val="C9CACE"/>
            </a:solidFill>
            <a:prstDash val="solid"/>
          </a:ln>
        </p:spPr>
        <p:txBody>
          <a:bodyPr/>
          <a:lstStyle/>
          <a:p>
            <a:endParaRPr lang="en-IN"/>
          </a:p>
        </p:txBody>
      </p:sp>
      <p:sp>
        <p:nvSpPr>
          <p:cNvPr id="19" name="Text 16"/>
          <p:cNvSpPr/>
          <p:nvPr/>
        </p:nvSpPr>
        <p:spPr>
          <a:xfrm>
            <a:off x="2709624" y="5873829"/>
            <a:ext cx="159425" cy="259199"/>
          </a:xfrm>
          <a:prstGeom prst="rect">
            <a:avLst/>
          </a:prstGeom>
          <a:noFill/>
          <a:ln/>
        </p:spPr>
        <p:txBody>
          <a:bodyPr wrap="none" rtlCol="0" anchor="t"/>
          <a:lstStyle/>
          <a:p>
            <a:pPr marL="0" indent="0" algn="ctr">
              <a:lnSpc>
                <a:spcPts val="2041"/>
              </a:lnSpc>
              <a:buNone/>
            </a:pPr>
            <a:r>
              <a:rPr lang="en-US" sz="2041" b="1" dirty="0">
                <a:solidFill>
                  <a:srgbClr val="5B5F71"/>
                </a:solidFill>
                <a:latin typeface="Instrument Sans" pitchFamily="34" charset="0"/>
                <a:ea typeface="Instrument Sans" pitchFamily="34" charset="-122"/>
                <a:cs typeface="Instrument Sans" pitchFamily="34" charset="-120"/>
              </a:rPr>
              <a:t>4</a:t>
            </a:r>
            <a:endParaRPr lang="en-US" sz="2041" dirty="0"/>
          </a:p>
        </p:txBody>
      </p:sp>
      <p:sp>
        <p:nvSpPr>
          <p:cNvPr id="20" name="Text 17"/>
          <p:cNvSpPr/>
          <p:nvPr/>
        </p:nvSpPr>
        <p:spPr>
          <a:xfrm>
            <a:off x="3156466" y="5809059"/>
            <a:ext cx="2470071" cy="539829"/>
          </a:xfrm>
          <a:prstGeom prst="rect">
            <a:avLst/>
          </a:prstGeom>
          <a:noFill/>
          <a:ln/>
        </p:spPr>
        <p:txBody>
          <a:bodyPr wrap="squar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Cross-Platform Compatibility</a:t>
            </a:r>
            <a:endParaRPr lang="en-US" sz="1701" dirty="0"/>
          </a:p>
        </p:txBody>
      </p:sp>
      <p:sp>
        <p:nvSpPr>
          <p:cNvPr id="21" name="Text 18"/>
          <p:cNvSpPr/>
          <p:nvPr/>
        </p:nvSpPr>
        <p:spPr>
          <a:xfrm>
            <a:off x="3156466" y="6452473"/>
            <a:ext cx="2470071" cy="1106329"/>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MySQL works on many operating systems and with many languages including PHP, PERL, C, C++, JAVA, etc.</a:t>
            </a:r>
            <a:endParaRPr lang="en-US" sz="1361" dirty="0"/>
          </a:p>
        </p:txBody>
      </p:sp>
      <p:sp>
        <p:nvSpPr>
          <p:cNvPr id="22" name="Shape 19"/>
          <p:cNvSpPr/>
          <p:nvPr/>
        </p:nvSpPr>
        <p:spPr>
          <a:xfrm>
            <a:off x="5799296" y="5809059"/>
            <a:ext cx="388739" cy="388739"/>
          </a:xfrm>
          <a:prstGeom prst="roundRect">
            <a:avLst>
              <a:gd name="adj" fmla="val 18672"/>
            </a:avLst>
          </a:prstGeom>
          <a:solidFill>
            <a:srgbClr val="E3E4E8"/>
          </a:solidFill>
          <a:ln w="7620">
            <a:solidFill>
              <a:srgbClr val="C9CACE"/>
            </a:solidFill>
            <a:prstDash val="solid"/>
          </a:ln>
        </p:spPr>
        <p:txBody>
          <a:bodyPr/>
          <a:lstStyle/>
          <a:p>
            <a:endParaRPr lang="en-IN"/>
          </a:p>
        </p:txBody>
      </p:sp>
      <p:sp>
        <p:nvSpPr>
          <p:cNvPr id="23" name="Text 20"/>
          <p:cNvSpPr/>
          <p:nvPr/>
        </p:nvSpPr>
        <p:spPr>
          <a:xfrm>
            <a:off x="5918359" y="5873829"/>
            <a:ext cx="150614" cy="259199"/>
          </a:xfrm>
          <a:prstGeom prst="rect">
            <a:avLst/>
          </a:prstGeom>
          <a:noFill/>
          <a:ln/>
        </p:spPr>
        <p:txBody>
          <a:bodyPr wrap="none" rtlCol="0" anchor="t"/>
          <a:lstStyle/>
          <a:p>
            <a:pPr marL="0" indent="0" algn="ctr">
              <a:lnSpc>
                <a:spcPts val="2041"/>
              </a:lnSpc>
              <a:buNone/>
            </a:pPr>
            <a:r>
              <a:rPr lang="en-US" sz="2041" b="1" dirty="0">
                <a:solidFill>
                  <a:srgbClr val="5B5F71"/>
                </a:solidFill>
                <a:latin typeface="Instrument Sans" pitchFamily="34" charset="0"/>
                <a:ea typeface="Instrument Sans" pitchFamily="34" charset="-122"/>
                <a:cs typeface="Instrument Sans" pitchFamily="34" charset="-120"/>
              </a:rPr>
              <a:t>5</a:t>
            </a:r>
            <a:endParaRPr lang="en-US" sz="2041" dirty="0"/>
          </a:p>
        </p:txBody>
      </p:sp>
      <p:sp>
        <p:nvSpPr>
          <p:cNvPr id="24" name="Text 21"/>
          <p:cNvSpPr/>
          <p:nvPr/>
        </p:nvSpPr>
        <p:spPr>
          <a:xfrm>
            <a:off x="6360795" y="5809059"/>
            <a:ext cx="2160270" cy="269915"/>
          </a:xfrm>
          <a:prstGeom prst="rect">
            <a:avLst/>
          </a:prstGeom>
          <a:noFill/>
          <a:ln/>
        </p:spPr>
        <p:txBody>
          <a:bodyPr wrap="non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Speed and Efficiency</a:t>
            </a:r>
            <a:endParaRPr lang="en-US" sz="1701" dirty="0"/>
          </a:p>
        </p:txBody>
      </p:sp>
      <p:sp>
        <p:nvSpPr>
          <p:cNvPr id="25" name="Text 22"/>
          <p:cNvSpPr/>
          <p:nvPr/>
        </p:nvSpPr>
        <p:spPr>
          <a:xfrm>
            <a:off x="6360795" y="6182558"/>
            <a:ext cx="2470071" cy="829747"/>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MySQL works very quickly and works well even with large data sets.</a:t>
            </a:r>
            <a:endParaRPr lang="en-US" sz="1361" dirty="0"/>
          </a:p>
        </p:txBody>
      </p:sp>
      <p:sp>
        <p:nvSpPr>
          <p:cNvPr id="26" name="Shape 23"/>
          <p:cNvSpPr/>
          <p:nvPr/>
        </p:nvSpPr>
        <p:spPr>
          <a:xfrm>
            <a:off x="9003625" y="5809059"/>
            <a:ext cx="388739" cy="388739"/>
          </a:xfrm>
          <a:prstGeom prst="roundRect">
            <a:avLst>
              <a:gd name="adj" fmla="val 18672"/>
            </a:avLst>
          </a:prstGeom>
          <a:solidFill>
            <a:srgbClr val="E3E4E8"/>
          </a:solidFill>
          <a:ln w="7620">
            <a:solidFill>
              <a:srgbClr val="C9CACE"/>
            </a:solidFill>
            <a:prstDash val="solid"/>
          </a:ln>
        </p:spPr>
        <p:txBody>
          <a:bodyPr/>
          <a:lstStyle/>
          <a:p>
            <a:endParaRPr lang="en-IN"/>
          </a:p>
        </p:txBody>
      </p:sp>
      <p:sp>
        <p:nvSpPr>
          <p:cNvPr id="27" name="Text 24"/>
          <p:cNvSpPr/>
          <p:nvPr/>
        </p:nvSpPr>
        <p:spPr>
          <a:xfrm>
            <a:off x="9118283" y="5873829"/>
            <a:ext cx="159425" cy="259199"/>
          </a:xfrm>
          <a:prstGeom prst="rect">
            <a:avLst/>
          </a:prstGeom>
          <a:noFill/>
          <a:ln/>
        </p:spPr>
        <p:txBody>
          <a:bodyPr wrap="none" rtlCol="0" anchor="t"/>
          <a:lstStyle/>
          <a:p>
            <a:pPr marL="0" indent="0" algn="ctr">
              <a:lnSpc>
                <a:spcPts val="2041"/>
              </a:lnSpc>
              <a:buNone/>
            </a:pPr>
            <a:r>
              <a:rPr lang="en-US" sz="2041" b="1" dirty="0">
                <a:solidFill>
                  <a:srgbClr val="5B5F71"/>
                </a:solidFill>
                <a:latin typeface="Instrument Sans" pitchFamily="34" charset="0"/>
                <a:ea typeface="Instrument Sans" pitchFamily="34" charset="-122"/>
                <a:cs typeface="Instrument Sans" pitchFamily="34" charset="-120"/>
              </a:rPr>
              <a:t>6</a:t>
            </a:r>
            <a:endParaRPr lang="en-US" sz="2041" dirty="0"/>
          </a:p>
        </p:txBody>
      </p:sp>
      <p:sp>
        <p:nvSpPr>
          <p:cNvPr id="28" name="Text 25"/>
          <p:cNvSpPr/>
          <p:nvPr/>
        </p:nvSpPr>
        <p:spPr>
          <a:xfrm>
            <a:off x="9565124" y="5809059"/>
            <a:ext cx="2160270" cy="269915"/>
          </a:xfrm>
          <a:prstGeom prst="rect">
            <a:avLst/>
          </a:prstGeom>
          <a:noFill/>
          <a:ln/>
        </p:spPr>
        <p:txBody>
          <a:bodyPr wrap="non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PHP Integration</a:t>
            </a:r>
            <a:endParaRPr lang="en-US" sz="1701" dirty="0"/>
          </a:p>
        </p:txBody>
      </p:sp>
      <p:sp>
        <p:nvSpPr>
          <p:cNvPr id="29" name="Text 26"/>
          <p:cNvSpPr/>
          <p:nvPr/>
        </p:nvSpPr>
        <p:spPr>
          <a:xfrm>
            <a:off x="9565124" y="6182558"/>
            <a:ext cx="2470071" cy="1106329"/>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MySQL is very friendly to PHP, the most appreciated language for web development.</a:t>
            </a:r>
            <a:endParaRPr lang="en-US" sz="1361" dirty="0"/>
          </a:p>
        </p:txBody>
      </p:sp>
      <p:sp>
        <p:nvSpPr>
          <p:cNvPr id="30" name="Shape 27"/>
          <p:cNvSpPr/>
          <p:nvPr/>
        </p:nvSpPr>
        <p:spPr>
          <a:xfrm>
            <a:off x="2594967" y="7925872"/>
            <a:ext cx="388739" cy="388739"/>
          </a:xfrm>
          <a:prstGeom prst="roundRect">
            <a:avLst>
              <a:gd name="adj" fmla="val 18672"/>
            </a:avLst>
          </a:prstGeom>
          <a:solidFill>
            <a:srgbClr val="E3E4E8"/>
          </a:solidFill>
          <a:ln w="7620">
            <a:solidFill>
              <a:srgbClr val="C9CACE"/>
            </a:solidFill>
            <a:prstDash val="solid"/>
          </a:ln>
        </p:spPr>
        <p:txBody>
          <a:bodyPr/>
          <a:lstStyle/>
          <a:p>
            <a:endParaRPr lang="en-IN"/>
          </a:p>
        </p:txBody>
      </p:sp>
      <p:sp>
        <p:nvSpPr>
          <p:cNvPr id="31" name="Text 28"/>
          <p:cNvSpPr/>
          <p:nvPr/>
        </p:nvSpPr>
        <p:spPr>
          <a:xfrm>
            <a:off x="2716530" y="7990642"/>
            <a:ext cx="145494" cy="259199"/>
          </a:xfrm>
          <a:prstGeom prst="rect">
            <a:avLst/>
          </a:prstGeom>
          <a:noFill/>
          <a:ln/>
        </p:spPr>
        <p:txBody>
          <a:bodyPr wrap="none" rtlCol="0" anchor="t"/>
          <a:lstStyle/>
          <a:p>
            <a:pPr marL="0" indent="0" algn="ctr">
              <a:lnSpc>
                <a:spcPts val="2041"/>
              </a:lnSpc>
              <a:buNone/>
            </a:pPr>
            <a:r>
              <a:rPr lang="en-US" sz="2041" b="1" dirty="0">
                <a:solidFill>
                  <a:srgbClr val="5B5F71"/>
                </a:solidFill>
                <a:latin typeface="Instrument Sans" pitchFamily="34" charset="0"/>
                <a:ea typeface="Instrument Sans" pitchFamily="34" charset="-122"/>
                <a:cs typeface="Instrument Sans" pitchFamily="34" charset="-120"/>
              </a:rPr>
              <a:t>7</a:t>
            </a:r>
            <a:endParaRPr lang="en-US" sz="2041" dirty="0"/>
          </a:p>
        </p:txBody>
      </p:sp>
      <p:sp>
        <p:nvSpPr>
          <p:cNvPr id="32" name="Text 29"/>
          <p:cNvSpPr/>
          <p:nvPr/>
        </p:nvSpPr>
        <p:spPr>
          <a:xfrm>
            <a:off x="3156466" y="7925872"/>
            <a:ext cx="2474119" cy="269915"/>
          </a:xfrm>
          <a:prstGeom prst="rect">
            <a:avLst/>
          </a:prstGeom>
          <a:noFill/>
          <a:ln/>
        </p:spPr>
        <p:txBody>
          <a:bodyPr wrap="none" rtlCol="0" anchor="t"/>
          <a:lstStyle/>
          <a:p>
            <a:pPr marL="0" indent="0">
              <a:lnSpc>
                <a:spcPts val="2126"/>
              </a:lnSpc>
              <a:buNone/>
            </a:pPr>
            <a:r>
              <a:rPr lang="en-US" sz="1701" b="1" dirty="0">
                <a:solidFill>
                  <a:srgbClr val="5B5F71"/>
                </a:solidFill>
                <a:latin typeface="Instrument Sans" pitchFamily="34" charset="0"/>
                <a:ea typeface="Instrument Sans" pitchFamily="34" charset="-122"/>
                <a:cs typeface="Instrument Sans" pitchFamily="34" charset="-120"/>
              </a:rPr>
              <a:t>Large Database Support</a:t>
            </a:r>
            <a:endParaRPr lang="en-US" sz="1701" dirty="0"/>
          </a:p>
        </p:txBody>
      </p:sp>
      <p:sp>
        <p:nvSpPr>
          <p:cNvPr id="33" name="Text 30"/>
          <p:cNvSpPr/>
          <p:nvPr/>
        </p:nvSpPr>
        <p:spPr>
          <a:xfrm>
            <a:off x="3156466" y="8299371"/>
            <a:ext cx="8878848" cy="829747"/>
          </a:xfrm>
          <a:prstGeom prst="rect">
            <a:avLst/>
          </a:prstGeom>
          <a:noFill/>
          <a:ln/>
        </p:spPr>
        <p:txBody>
          <a:bodyPr wrap="square" rtlCol="0" anchor="t"/>
          <a:lstStyle/>
          <a:p>
            <a:pPr marL="0" indent="0">
              <a:lnSpc>
                <a:spcPts val="2177"/>
              </a:lnSpc>
              <a:buNone/>
            </a:pPr>
            <a:r>
              <a:rPr lang="en-US" sz="1361" dirty="0">
                <a:solidFill>
                  <a:srgbClr val="5B5F71"/>
                </a:solidFill>
                <a:latin typeface="Instrument Sans" pitchFamily="34" charset="0"/>
                <a:ea typeface="Instrument Sans" pitchFamily="34" charset="-122"/>
                <a:cs typeface="Instrument Sans" pitchFamily="34" charset="-120"/>
              </a:rPr>
              <a:t>MySQL supports large databases, up to 50 million rows or more in a table. The default file size limit for a table is 4GB, but you can increase this (if your operating system can handle it) to a theoretical limit of 8 million terabytes (TB).</a:t>
            </a:r>
            <a:endParaRPr lang="en-US" sz="136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995</Words>
  <Application>Microsoft Office PowerPoint</Application>
  <PresentationFormat>Custom</PresentationFormat>
  <Paragraphs>115</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Instrument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Ansh Raj Saxena</cp:lastModifiedBy>
  <cp:revision>2</cp:revision>
  <dcterms:created xsi:type="dcterms:W3CDTF">2024-07-15T16:27:20Z</dcterms:created>
  <dcterms:modified xsi:type="dcterms:W3CDTF">2024-07-15T16:29:34Z</dcterms:modified>
</cp:coreProperties>
</file>